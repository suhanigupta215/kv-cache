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s>
</file>

<file path=ppt/charts/_rels/chart1.xml.rels><?xml version="1.0" encoding="UTF-8" standalone="yes"?><Relationships xmlns="http://schemas.openxmlformats.org/package/2006/relationships"><Relationship Id="rId1" Type="http://schemas.openxmlformats.org/officeDocument/2006/relationships/package" Target="../embeddings/Timing.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v>Mean frame time ms</c:v>
          </c:tx>
          <c:spPr>
            <a:solidFill>
              <a:srgbClr val="206A87"/>
            </a:solidFill>
            <a:ln>
              <a:noFill/>
            </a:ln>
          </c:spPr>
          <c:cat>
            <c:strRef>
              <c:f>Timing!$A$2:$A$3</c:f>
              <c:strCache>
                <c:ptCount val="2"/>
                <c:pt idx="0">
                  <c:v>Oracle</c:v>
                </c:pt>
                <c:pt idx="1">
                  <c:v>Indexed</c:v>
                </c:pt>
              </c:strCache>
            </c:strRef>
          </c:cat>
          <c:val>
            <c:numRef>
              <c:f>Timing!$B$2:$B$3</c:f>
              <c:numCache>
                <c:formatCode>0.000</c:formatCode>
                <c:ptCount val="2"/>
                <c:pt idx="0">
                  <c:v>55.570</c:v>
                </c:pt>
                <c:pt idx="1">
                  <c:v>26.484</c:v>
                </c:pt>
              </c:numCache>
            </c:numRef>
          </c:val>
        </c:ser>
        <c:dLbls>
          <c:numFmt formatCode="0.000" sourceLinked="0"/>
          <c:dLblPos val="outEnd"/>
          <c:showLegendKey val="0"/>
          <c:showVal val="1"/>
          <c:showCatName val="0"/>
          <c:showSerName val="0"/>
          <c:showPercent val="0"/>
        </c:dLbls>
        <c:gapWidth val="110"/>
        <c:axId val="123"/>
        <c:axId val="456"/>
      </c:barChart>
      <c:catAx>
        <c:axId val="123"/>
        <c:scaling>
          <c:orientation val="minMax"/>
        </c:scaling>
        <c:delete val="0"/>
        <c:axPos val="b"/>
        <c:tickLblPos val="nextTo"/>
        <c:spPr>
          <a:ln w="9525">
            <a:solidFill>
              <a:srgbClr val="D6DEE5"/>
            </a:solidFill>
          </a:ln>
        </c:spPr>
        <c:txPr>
          <a:bodyPr/>
          <a:lstStyle/>
          <a:p>
            <a:pPr>
              <a:defRPr sz="1800">
                <a:solidFill>
                  <a:srgbClr val="18334A"/>
                </a:solidFill>
                <a:latin typeface="Arial"/>
              </a:defRPr>
            </a:pPr>
            <a:endParaRPr lang="en-US"/>
          </a:p>
        </c:txPr>
        <c:crossAx val="456"/>
        <c:crosses val="autoZero"/>
        <c:auto val="1"/>
        <c:lblAlgn val="ctr"/>
        <c:lblOffset val="100"/>
      </c:catAx>
      <c:valAx>
        <c:axId val="456"/>
        <c:scaling>
          <c:orientation val="minMax"/>
          <c:max val="70"/>
          <c:min val="0"/>
        </c:scaling>
        <c:delete val="0"/>
        <c:axPos val="l"/>
        <c:majorGridlines>
          <c:spPr>
            <a:ln w="9525">
              <a:solidFill>
                <a:srgbClr val="D6DEE5"/>
              </a:solidFill>
            </a:ln>
          </c:spPr>
        </c:majorGridlines>
        <c:numFmt formatCode="0" sourceLinked="0"/>
        <c:tickLblPos val="nextTo"/>
        <c:spPr>
          <a:ln w="9525">
            <a:solidFill>
              <a:srgbClr val="D6DEE5"/>
            </a:solidFill>
          </a:ln>
        </c:spPr>
        <c:txPr>
          <a:bodyPr/>
          <a:lstStyle/>
          <a:p>
            <a:pPr>
              <a:defRPr sz="1800">
                <a:solidFill>
                  <a:srgbClr val="18334A"/>
                </a:solidFill>
                <a:latin typeface="Arial"/>
              </a:defRPr>
            </a:pPr>
            <a:endParaRPr lang="en-US"/>
          </a:p>
        </c:txPr>
        <c:crossAx val="123"/>
        <c:crosses val="autoZero"/>
        <c:crossBetween val="between"/>
        <c:majorUnit val="10"/>
      </c:valAx>
    </c:plotArea>
    <c:plotVisOnly val="1"/>
    <c:dispBlanksAs val="gap"/>
  </c:chart>
  <c:spPr>
    <a:noFill/>
    <a:ln>
      <a:noFill/>
    </a:ln>
  </c:spPr>
  <c:txPr>
    <a:bodyPr/>
    <a:lstStyle/>
    <a:p>
      <a:pPr>
        <a:defRPr sz="1800">
          <a:solidFill>
            <a:srgbClr val="18334A"/>
          </a:solidFill>
          <a:latin typeface="Arial"/>
        </a:defRPr>
      </a:pPr>
      <a:endParaRPr lang="en-US"/>
    </a:p>
  </c:txPr>
  <c:externalData r:id="rId1">
    <c:autoUpdate val="0"/>
  </c:externalData>
</c:chartSpace>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Good morning ma'am. We are Suhani Gupta, Kunwar Shaurya Pratap Singh, and Kanan Tayal. Our project is MTR-KV, which stands for Motion to Residency Reconciliation. We use motion information from compressed video to guide the storage of intermediate data used by an AI attention layer. I will first explain the problem, then the workflow, and finally the measured results and limitations.</a:t>
            </a:r>
            <a:endParaRPr lang="en-US" sz="1350"/>
          </a:p>
          <a:p>
            <a:pPr algn="l">
              <a:lnSpc>
                <a:spcPct val="115000"/>
              </a:lnSpc>
              <a:spcAft>
                <a:spcPts val="0"/>
              </a:spcAft>
              <a:buNone/>
            </a:pPr>
            <a:r>
              <a:rPr lang="en-US" sz="1350" b="0">
                <a:solidFill>
                  <a:srgbClr val="18334A"/>
                </a:solidFill>
                <a:latin typeface="Arial"/>
                <a:ea typeface="Arial"/>
                <a:cs typeface="Arial"/>
              </a:rPr>
              <a:t>Source: MTR-KV project README.md and source modules in the supplied project snapshot.</a:t>
            </a:r>
            <a:endParaRPr lang="en-US" sz="135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We use video motion to guide where attention data is stored. Imagine a video with a still background and a moving object. Different regions may need different treatment. We first use motion as a clue. We then check temporal history and model feedback before making or correcting a memory decision. The important point is that motion is only evidence. Quiet content can still matter to the model.</a:t>
            </a:r>
            <a:endParaRPr lang="en-US" sz="1350"/>
          </a:p>
          <a:p>
            <a:pPr algn="l">
              <a:lnSpc>
                <a:spcPct val="115000"/>
              </a:lnSpc>
              <a:spcAft>
                <a:spcPts val="0"/>
              </a:spcAft>
              <a:buNone/>
            </a:pPr>
            <a:r>
              <a:rPr lang="en-US" sz="1350" b="0">
                <a:solidFill>
                  <a:srgbClr val="18334A"/>
                </a:solidFill>
                <a:latin typeface="Arial"/>
                <a:ea typeface="Arial"/>
                <a:cs typeface="Arial"/>
              </a:rPr>
              <a:t>Source: MTR-KV project README.md and source modules in the supplied project snapshot.</a:t>
            </a:r>
            <a:endParaRPr lang="en-US" sz="135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A token represents one small image patch. A page groups several tokens so the controller can manage them together. K and V mean keys and values. They are temporary feature tensors produced during attention, not the learned model weights. Residency means where a page is stored and in which representation. You can remember the project as deciding where attention pages should live.</a:t>
            </a:r>
            <a:endParaRPr lang="en-US" sz="1350"/>
          </a:p>
          <a:p>
            <a:pPr algn="l">
              <a:lnSpc>
                <a:spcPct val="115000"/>
              </a:lnSpc>
              <a:spcAft>
                <a:spcPts val="0"/>
              </a:spcAft>
              <a:buNone/>
            </a:pPr>
            <a:r>
              <a:rPr lang="en-US" sz="1350" b="0">
                <a:solidFill>
                  <a:srgbClr val="18334A"/>
                </a:solidFill>
                <a:latin typeface="Arial"/>
                <a:ea typeface="Arial"/>
                <a:cs typeface="Arial"/>
              </a:rPr>
              <a:t>Source: mtr_kv/data_objects.py, config.py and tensor_store.py. Transformer background: Vaswani et al., Attention Is All You Need, 2017, arXiv:1706.03762.</a:t>
            </a:r>
            <a:endParaRPr lang="en-US" sz="135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Attention creates key and value tensors for visual patches. Repeated video frames can contain regions that remain quiet, but they can also contain scene changes. A policy that treats every page identically misses this difference. Our project studies how to make more selective residency decisions. We do not assume every quiet region is unimportant, and we do not claim that compression automatically makes the entire model faster.</a:t>
            </a:r>
            <a:endParaRPr lang="en-US" sz="1350"/>
          </a:p>
          <a:p>
            <a:pPr algn="l">
              <a:lnSpc>
                <a:spcPct val="115000"/>
              </a:lnSpc>
              <a:spcAft>
                <a:spcPts val="0"/>
              </a:spcAft>
              <a:buNone/>
            </a:pPr>
            <a:r>
              <a:rPr lang="en-US" sz="1350" b="0">
                <a:solidFill>
                  <a:srgbClr val="18334A"/>
                </a:solidFill>
                <a:latin typeface="Arial"/>
                <a:ea typeface="Arial"/>
                <a:cs typeface="Arial"/>
              </a:rPr>
              <a:t>Source: MTR-KV project README.md and source modules in the supplied project snapshot.</a:t>
            </a:r>
            <a:endParaRPr lang="en-US" sz="135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prototype uses a pretrained Vision Transformer called ViT-Tiny. We do not train a new neural network. The classifier processes image patches using attention. We derive a page importance signal from class token attention, and a rule based temporal engine reasons about whether motion has stayed low or whether the scene has changed. Our contribution is the connection between these observations and the memory controller.</a:t>
            </a:r>
            <a:endParaRPr lang="en-US" sz="1350"/>
          </a:p>
          <a:p>
            <a:pPr algn="l">
              <a:lnSpc>
                <a:spcPct val="115000"/>
              </a:lnSpc>
              <a:spcAft>
                <a:spcPts val="0"/>
              </a:spcAft>
              <a:buNone/>
            </a:pPr>
            <a:r>
              <a:rPr lang="en-US" sz="1350" b="0">
                <a:solidFill>
                  <a:srgbClr val="18334A"/>
                </a:solidFill>
                <a:latin typeface="Arial"/>
                <a:ea typeface="Arial"/>
                <a:cs typeface="Arial"/>
              </a:rPr>
              <a:t>Source: README.md, mtr_kv/vision_feedback.py, semantic.py and temporal.py. ViT background: Dosovitskiy et al., An Image is Worth 16x16 Words, ICLR 2021, arXiv:2010.11929.</a:t>
            </a:r>
            <a:endParaRPr lang="en-US" sz="135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First, the decoder reads the compressed video and extracts available motion vectors. Second, the reconciliation engine matches codec regions to image tokens. Third, the temporal engine considers the current motion together with recent history. Fourth, the memory controller commits a page mapping before the attention block reads it. Model feedback can later request a promotion through the same controller.</a:t>
            </a:r>
            <a:endParaRPr lang="en-US" sz="1350"/>
          </a:p>
          <a:p>
            <a:pPr algn="l">
              <a:lnSpc>
                <a:spcPct val="115000"/>
              </a:lnSpc>
              <a:spcAft>
                <a:spcPts val="0"/>
              </a:spcAft>
              <a:buNone/>
            </a:pPr>
            <a:r>
              <a:rPr lang="en-US" sz="1350" b="0">
                <a:solidFill>
                  <a:srgbClr val="18334A"/>
                </a:solidFill>
                <a:latin typeface="Arial"/>
                <a:ea typeface="Arial"/>
                <a:cs typeface="Arial"/>
              </a:rPr>
              <a:t>Source: MTR-KV project README.md and source modules in the supplied project snapshot.</a:t>
            </a:r>
            <a:endParaRPr lang="en-US" sz="135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video codec divides a frame into blocks, while ViT divides its input into patches. These boundaries do not necessarily match. The model also resizes and crops the image. We reverse that preprocessing transformation and put both kinds of region into the same source coordinate system. Overlap then tells us which motion observations contribute to each token. MTRE stands for Motion to Token Reconciliation Engine.</a:t>
            </a:r>
            <a:endParaRPr lang="en-US" sz="1350"/>
          </a:p>
          <a:p>
            <a:pPr algn="l">
              <a:lnSpc>
                <a:spcPct val="115000"/>
              </a:lnSpc>
              <a:spcAft>
                <a:spcPts val="0"/>
              </a:spcAft>
              <a:buNone/>
            </a:pPr>
            <a:r>
              <a:rPr lang="en-US" sz="1350" b="0">
                <a:solidFill>
                  <a:srgbClr val="18334A"/>
                </a:solidFill>
                <a:latin typeface="Arial"/>
                <a:ea typeface="Arial"/>
                <a:cs typeface="Arial"/>
              </a:rPr>
              <a:t>Source: mtr_kv/mtre.py, docs/OPTIMIZATION.md. Diagram: geometry.png in the final report assets, derived from the source interfaces.</a:t>
            </a:r>
            <a:endParaRPr lang="en-US" sz="135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T0 keeps fp16 tensors on the selected torch device. The recorded demo selects CPU. T1 stores a symmetric int8 representation on CPU, which can reduce precision and introduce error. T2 compresses fp16 bytes on CPU and decompresses them when needed. The tier labels describe implemented representations, not a measured three level GPU memory hierarchy. Their conversion and compression can also add overhead.</a:t>
            </a:r>
            <a:endParaRPr lang="en-US" sz="1350"/>
          </a:p>
          <a:p>
            <a:pPr algn="l">
              <a:lnSpc>
                <a:spcPct val="115000"/>
              </a:lnSpc>
              <a:spcAft>
                <a:spcPts val="0"/>
              </a:spcAft>
              <a:buNone/>
            </a:pPr>
            <a:r>
              <a:rPr lang="en-US" sz="1350" b="0">
                <a:solidFill>
                  <a:srgbClr val="18334A"/>
                </a:solidFill>
                <a:latin typeface="Arial"/>
                <a:ea typeface="Arial"/>
                <a:cs typeface="Arial"/>
              </a:rPr>
              <a:t>Source: mtr_kv/tensor_store.py and README.md.</a:t>
            </a:r>
            <a:endParaRPr lang="en-US" sz="135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One low motion observation is not enough to prove stability. The temporal engine uses thresholds and counters. Reliable high activity leads to ACTIVE behavior. Repeated low activity can reach STATIC. Scene changes lead to TRANSITIONING, while missing or low confidence metadata leads to UNKNOWN and conservative handling. The reference low and high thresholds are 0.20 and 0.35, with persistence and stable parameters of four and six frames.</a:t>
            </a:r>
            <a:endParaRPr lang="en-US" sz="1350"/>
          </a:p>
          <a:p>
            <a:pPr algn="l">
              <a:lnSpc>
                <a:spcPct val="115000"/>
              </a:lnSpc>
              <a:spcAft>
                <a:spcPts val="0"/>
              </a:spcAft>
              <a:buNone/>
            </a:pPr>
            <a:r>
              <a:rPr lang="en-US" sz="1350" b="0">
                <a:solidFill>
                  <a:srgbClr val="18334A"/>
                </a:solidFill>
                <a:latin typeface="Arial"/>
                <a:ea typeface="Arial"/>
                <a:cs typeface="Arial"/>
              </a:rPr>
              <a:t>Source: mtr_kv/temporal.py and config.py.</a:t>
            </a:r>
            <a:endParaRPr lang="en-US" sz="135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Imagine a stationary sign in a video. It may have little motion but still influence the classifier. The semantic correction path uses a model derived attention score to identify a page that may deserve a preferred representation. It sends a promotion request through the controller. The T03 simulator example illustrates this behavior: full correction rescues 40 pages and therefore reports less modeled storage savings than codec only mode. Attention scores are a signal, not ground truth semantic importance.</a:t>
            </a:r>
            <a:endParaRPr lang="en-US" sz="1350"/>
          </a:p>
          <a:p>
            <a:pPr algn="l">
              <a:lnSpc>
                <a:spcPct val="115000"/>
              </a:lnSpc>
              <a:spcAft>
                <a:spcPts val="0"/>
              </a:spcAft>
              <a:buNone/>
            </a:pPr>
            <a:r>
              <a:rPr lang="en-US" sz="1350" b="0">
                <a:solidFill>
                  <a:srgbClr val="18334A"/>
                </a:solidFill>
                <a:latin typeface="Arial"/>
                <a:ea typeface="Arial"/>
                <a:cs typeface="Arial"/>
              </a:rPr>
              <a:t>Source: docs/DEMO.md, mtr_kv/semantic.py, configs/reference.json and tmp/local-check/simulation.json.</a:t>
            </a:r>
            <a:endParaRPr lang="en-US" sz="135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This is the most important safety point. Even if pixels appear still, earlier transformer layers may change their features. We therefore compare the actual input features of a page at the final attention block. Reuse requires exact equality plus valid controller identity, a current ready mapping, and an age within the reuse window. The default age bound is eight processed generations. If any check fails, the adapter recomputes K and V. A generation is the identity of one processed frame.</a:t>
            </a:r>
            <a:endParaRPr lang="en-US" sz="1350"/>
          </a:p>
          <a:p>
            <a:pPr algn="l">
              <a:lnSpc>
                <a:spcPct val="115000"/>
              </a:lnSpc>
              <a:spcAft>
                <a:spcPts val="0"/>
              </a:spcAft>
              <a:buNone/>
            </a:pPr>
            <a:r>
              <a:rPr lang="en-US" sz="1350" b="0">
                <a:solidFill>
                  <a:srgbClr val="18334A"/>
                </a:solidFill>
                <a:latin typeface="Arial"/>
                <a:ea typeface="Arial"/>
                <a:cs typeface="Arial"/>
              </a:rPr>
              <a:t>Source: docs/KV_REUSE.md and mtr_kv/vision_feedback.py.</a:t>
            </a:r>
            <a:endParaRPr lang="en-US" sz="1350"/>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left side shows the decoded video. The right side shows the committed logical K/V pages and their selected tiers. Page tiles represent groups of tokens, not rectangular image areas. The generated clip has four phases: still content, motion, still content again, and a scene cut. Restart replays it, and Save trace exports measured JSONL records. This screenshot is a recorded interface example. Its instantaneous displayed processing rate is not the paired benchmark result on the next slide.</a:t>
            </a:r>
            <a:endParaRPr lang="en-US" sz="1350"/>
          </a:p>
          <a:p>
            <a:pPr algn="l">
              <a:lnSpc>
                <a:spcPct val="115000"/>
              </a:lnSpc>
              <a:spcAft>
                <a:spcPts val="0"/>
              </a:spcAft>
              <a:buNone/>
            </a:pPr>
            <a:r>
              <a:rPr lang="en-US" sz="1350" b="0">
                <a:solidFill>
                  <a:srgbClr val="18334A"/>
                </a:solidFill>
                <a:latin typeface="Arial"/>
                <a:ea typeface="Arial"/>
                <a:cs typeface="Arial"/>
              </a:rPr>
              <a:t>Source: docs/DEMO.md and output/evidence/prototype-video-and-pages.png.</a:t>
            </a:r>
            <a:endParaRPr lang="en-US" sz="1350"/>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exhaustive implementation checks geometry directly and acts as a correctness oracle. The indexed implementation narrows the block candidates. The repository records three alternating paired runs using the same input and principal settings. Each run decodes 60 frames and excludes the first six from timing summaries. The medians of the per run mean frame times are 55.570 and 26.484 milliseconds, which gives a 52.34 percent reduction. Matching paired controller decision hashes support equivalent decisions on these runs. This comparison is between reconciliation paths in the CPU pipeline. It includes a baseline inference comparison and is not an overall speedup over standard ViT.</a:t>
            </a:r>
            <a:endParaRPr lang="en-US" sz="1350"/>
          </a:p>
          <a:p>
            <a:pPr algn="l">
              <a:lnSpc>
                <a:spcPct val="115000"/>
              </a:lnSpc>
              <a:spcAft>
                <a:spcPts val="0"/>
              </a:spcAft>
              <a:buNone/>
            </a:pPr>
            <a:r>
              <a:rPr lang="en-US" sz="1350" b="0">
                <a:solidFill>
                  <a:srgbClr val="18334A"/>
                </a:solidFill>
                <a:latin typeface="Arial"/>
                <a:ea typeface="Arial"/>
                <a:cs typeface="Arial"/>
              </a:rPr>
              <a:t>Source: results/optimization-20261021/paired-serial/manifest.json and docs/OPTIMIZATION.md.</a:t>
            </a:r>
            <a:endParaRPr lang="en-US" sz="135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generated clip contains intentionally repeated content and records 862 page reuses over 216 frames. The natural H.264 clip records zero exact reuse over 171 frames, which is valid because features may change. The generated clip agrees with standard ViT on all 216 frames. The natural clip agrees on 170 of 171 frames. Agreement compares two implementations of the same classifier. We do not have labeled task accuracy from these numbers. The clips have different lengths and content, so the raw reuse totals do not provide a controlled performance comparison.</a:t>
            </a:r>
            <a:endParaRPr lang="en-US" sz="1350"/>
          </a:p>
          <a:p>
            <a:pPr algn="l">
              <a:lnSpc>
                <a:spcPct val="115000"/>
              </a:lnSpc>
              <a:spcAft>
                <a:spcPts val="0"/>
              </a:spcAft>
              <a:buNone/>
            </a:pPr>
            <a:r>
              <a:rPr lang="en-US" sz="1350" b="0">
                <a:solidFill>
                  <a:srgbClr val="18334A"/>
                </a:solidFill>
                <a:latin typeface="Arial"/>
                <a:ea typeface="Arial"/>
                <a:cs typeface="Arial"/>
              </a:rPr>
              <a:t>Source: results/optimization-20261021/full-demo-serial-evaluation.json and results/freeze-v1/derived-h264-evaluation.json.</a:t>
            </a:r>
            <a:endParaRPr lang="en-US" sz="135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Our prototype connects codec motion evidence to safe K/V storage decisions. It combines geometry matching, temporal rules, semantic feedback, and controller checks. The CPU experiment demonstrates an indexed reconciliation improvement and the reuse experiment demonstrates workload dependence. The live integration affects only the final ViT-Tiny attention block, while earlier blocks still execute. The repository retains 128 passed tests, but that is an existing test record rather than a new run on this presentation computer. Future work should test more natural videos, measure labeled quality and total memory, and evaluate a selected GPU or full VLM integration.</a:t>
            </a:r>
            <a:endParaRPr lang="en-US" sz="1350"/>
          </a:p>
          <a:p>
            <a:pPr algn="l">
              <a:lnSpc>
                <a:spcPct val="115000"/>
              </a:lnSpc>
              <a:spcAft>
                <a:spcPts val="0"/>
              </a:spcAft>
              <a:buNone/>
            </a:pPr>
            <a:r>
              <a:rPr lang="en-US" sz="1350" b="0">
                <a:solidFill>
                  <a:srgbClr val="18334A"/>
                </a:solidFill>
                <a:latin typeface="Arial"/>
                <a:ea typeface="Arial"/>
                <a:cs typeface="Arial"/>
              </a:rPr>
              <a:t>Source: README.md, docs/KV_REUSE.md, docs/OPTIMIZATION.md and results/optimization-20261021/test-results.txt.</a:t>
            </a:r>
            <a:endParaRPr lang="en-US" sz="135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Use these short answers if the teacher asks for clarification. Keep the first answer to one or two sentences, and expand only if asked. K and V are temporary features for attention. A logical page groups tokens. Low motion is a clue for placement, while exact feature equality decides reuse eligibility. ViT-Tiny is the pretrained classifier we use to demonstrate the model path.</a:t>
            </a:r>
            <a:endParaRPr lang="en-US" sz="1350"/>
          </a:p>
          <a:p>
            <a:pPr algn="l">
              <a:lnSpc>
                <a:spcPct val="115000"/>
              </a:lnSpc>
              <a:spcAft>
                <a:spcPts val="0"/>
              </a:spcAft>
              <a:buNone/>
            </a:pPr>
            <a:r>
              <a:rPr lang="en-US" sz="1350" b="0">
                <a:solidFill>
                  <a:srgbClr val="18334A"/>
                </a:solidFill>
                <a:latin typeface="Arial"/>
                <a:ea typeface="Arial"/>
                <a:cs typeface="Arial"/>
              </a:rPr>
              <a:t>Source: MTR-KV project README.md and source modules in the supplied project snapshot.</a:t>
            </a:r>
            <a:endParaRPr lang="en-US" sz="135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If asked whether the whole model is twice as fast, say that the measured 52.34 percent reduction belongs to the paired reconciliation comparison, not the whole model against standard ViT. If asked about zero reuse in natural video, say that exact input equality did not hold often enough to produce a valid reuse hit. If asked about safety, explain that every processed frame has a generation number and consumers read only a matching ready page. If asked about accuracy, describe classifier agreement and say that labeled task quality still needs evaluation.</a:t>
            </a:r>
            <a:endParaRPr lang="en-US" sz="1350"/>
          </a:p>
          <a:p>
            <a:pPr algn="l">
              <a:lnSpc>
                <a:spcPct val="115000"/>
              </a:lnSpc>
              <a:spcAft>
                <a:spcPts val="0"/>
              </a:spcAft>
              <a:buNone/>
            </a:pPr>
            <a:r>
              <a:rPr lang="en-US" sz="1350" b="0">
                <a:solidFill>
                  <a:srgbClr val="18334A"/>
                </a:solidFill>
                <a:latin typeface="Arial"/>
                <a:ea typeface="Arial"/>
                <a:cs typeface="Arial"/>
              </a:rPr>
              <a:t>Source: docs/KV_REUSE.md, docs/OPTIMIZATION.md and retained video evaluation records.</a:t>
            </a:r>
            <a:endParaRPr lang="en-US" sz="135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666750" y="762000"/>
            <a:ext cx="5524500" cy="6667500"/>
          </a:xfrm>
        </p:spPr>
        <p:txBody>
          <a:bodyPr/>
          <a:lstStyle/>
          <a:p>
            <a:pPr algn="l">
              <a:lnSpc>
                <a:spcPct val="115000"/>
              </a:lnSpc>
              <a:spcAft>
                <a:spcPts val="0"/>
              </a:spcAft>
              <a:buNone/>
            </a:pPr>
            <a:r>
              <a:rPr lang="en-US" sz="1350" b="0">
                <a:solidFill>
                  <a:srgbClr val="18334A"/>
                </a:solidFill>
                <a:latin typeface="Arial"/>
                <a:ea typeface="Arial"/>
                <a:cs typeface="Arial"/>
              </a:rPr>
              <a:t>The main implementation and result sources are listed here. The report references trace files and manifests for numerical claims. Speaker notes on the relevant slides identify the exact project file or academic paper used.</a:t>
            </a:r>
            <a:endParaRPr lang="en-US" sz="1350"/>
          </a:p>
          <a:p>
            <a:pPr algn="l">
              <a:lnSpc>
                <a:spcPct val="115000"/>
              </a:lnSpc>
              <a:spcAft>
                <a:spcPts val="0"/>
              </a:spcAft>
              <a:buNone/>
            </a:pPr>
            <a:r>
              <a:rPr lang="en-US" sz="1350" b="0">
                <a:solidFill>
                  <a:srgbClr val="18334A"/>
                </a:solidFill>
                <a:latin typeface="Arial"/>
                <a:ea typeface="Arial"/>
                <a:cs typeface="Arial"/>
              </a:rPr>
              <a:t>Repository identifier: Shaurya002800/MTR-KV. Local snapshot supplied by the project team.</a:t>
            </a:r>
            <a:endParaRPr lang="en-US" sz="135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name="MTR KV">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png"/><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4.png"/><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1"/>
          <p:cNvPicPr>
            <a:picLocks noChangeAspect="1"/>
          </p:cNvPicPr>
          <p:nvPr/>
        </p:nvPicPr>
        <p:blipFill>
          <a:blip r:embed="rId2"/>
          <a:stretch>
            <a:fillRect/>
          </a:stretch>
        </p:blipFill>
        <p:spPr>
          <a:xfrm>
            <a:off x="723900" y="457200"/>
            <a:ext cx="3714750" cy="1103912"/>
          </a:xfrm>
          <a:prstGeom prst="rect">
            <a:avLst/>
          </a:prstGeom>
        </p:spPr>
      </p:pic>
      <p:sp>
        <p:nvSpPr>
          <p:cNvPr id="3" name="Text 3"/>
          <p:cNvSpPr txBox="1"/>
          <p:nvPr/>
        </p:nvSpPr>
        <p:spPr>
          <a:xfrm>
            <a:off x="723900" y="1952625"/>
            <a:ext cx="10477500" cy="933450"/>
          </a:xfrm>
          <a:prstGeom prst="rect">
            <a:avLst/>
          </a:prstGeom>
          <a:noFill/>
          <a:ln>
            <a:noFill/>
          </a:ln>
        </p:spPr>
        <p:txBody>
          <a:bodyPr wrap="square" lIns="0" tIns="0" rIns="0" bIns="0" anchor="t">
            <a:noAutofit/>
          </a:bodyPr>
          <a:lstStyle/>
          <a:p>
            <a:pPr algn="l">
              <a:lnSpc>
                <a:spcPct val="115000"/>
              </a:lnSpc>
              <a:spcAft>
                <a:spcPts val="0"/>
              </a:spcAft>
              <a:buNone/>
            </a:pPr>
            <a:r>
              <a:rPr lang="en-US" sz="5850" b="1">
                <a:solidFill>
                  <a:srgbClr val="18334A"/>
                </a:solidFill>
                <a:latin typeface="Arial"/>
                <a:ea typeface="Arial"/>
                <a:cs typeface="Arial"/>
              </a:rPr>
              <a:t>MTR-KV</a:t>
            </a:r>
            <a:endParaRPr lang="en-US" sz="5850"/>
          </a:p>
        </p:txBody>
      </p:sp>
      <p:sp>
        <p:nvSpPr>
          <p:cNvPr id="4" name="Text 4"/>
          <p:cNvSpPr txBox="1"/>
          <p:nvPr/>
        </p:nvSpPr>
        <p:spPr>
          <a:xfrm>
            <a:off x="762000" y="2924175"/>
            <a:ext cx="10477500" cy="571500"/>
          </a:xfrm>
          <a:prstGeom prst="rect">
            <a:avLst/>
          </a:prstGeom>
          <a:noFill/>
          <a:ln>
            <a:noFill/>
          </a:ln>
        </p:spPr>
        <p:txBody>
          <a:bodyPr wrap="square" lIns="0" tIns="0" rIns="0" bIns="0" anchor="t">
            <a:noAutofit/>
          </a:bodyPr>
          <a:lstStyle/>
          <a:p>
            <a:pPr algn="l">
              <a:lnSpc>
                <a:spcPct val="115000"/>
              </a:lnSpc>
              <a:spcAft>
                <a:spcPts val="0"/>
              </a:spcAft>
              <a:buNone/>
            </a:pPr>
            <a:r>
              <a:rPr lang="en-US" sz="2925" b="0">
                <a:solidFill>
                  <a:srgbClr val="18334A"/>
                </a:solidFill>
                <a:latin typeface="Arial"/>
                <a:ea typeface="Arial"/>
                <a:cs typeface="Arial"/>
              </a:rPr>
              <a:t>Motion to Residency Reconciliation</a:t>
            </a:r>
            <a:endParaRPr lang="en-US" sz="2925"/>
          </a:p>
        </p:txBody>
      </p:sp>
      <p:sp>
        <p:nvSpPr>
          <p:cNvPr id="5" name="Text 5"/>
          <p:cNvSpPr txBox="1"/>
          <p:nvPr/>
        </p:nvSpPr>
        <p:spPr>
          <a:xfrm>
            <a:off x="762000" y="3714750"/>
            <a:ext cx="10287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2025" b="0">
                <a:solidFill>
                  <a:srgbClr val="18334A"/>
                </a:solidFill>
                <a:latin typeface="Arial"/>
                <a:ea typeface="Arial"/>
                <a:cs typeface="Arial"/>
              </a:rPr>
              <a:t>Artificial Intelligence   BCSE306L</a:t>
            </a:r>
            <a:endParaRPr lang="en-US" sz="2025"/>
          </a:p>
          <a:p>
            <a:pPr algn="l">
              <a:lnSpc>
                <a:spcPct val="115000"/>
              </a:lnSpc>
              <a:spcAft>
                <a:spcPts val="0"/>
              </a:spcAft>
              <a:buNone/>
            </a:pPr>
            <a:r>
              <a:rPr lang="en-US" sz="2025" b="0">
                <a:solidFill>
                  <a:srgbClr val="18334A"/>
                </a:solidFill>
                <a:latin typeface="Arial"/>
                <a:ea typeface="Arial"/>
                <a:cs typeface="Arial"/>
              </a:rPr>
              <a:t>Professor Jayalakshmi P</a:t>
            </a:r>
            <a:endParaRPr lang="en-US" sz="2025"/>
          </a:p>
        </p:txBody>
      </p:sp>
      <p:sp>
        <p:nvSpPr>
          <p:cNvPr id="6" name="Text 6"/>
          <p:cNvSpPr txBox="1"/>
          <p:nvPr/>
        </p:nvSpPr>
        <p:spPr>
          <a:xfrm>
            <a:off x="762000" y="5067300"/>
            <a:ext cx="10287000" cy="1143000"/>
          </a:xfrm>
          <a:prstGeom prst="rect">
            <a:avLst/>
          </a:prstGeom>
          <a:noFill/>
          <a:ln>
            <a:noFill/>
          </a:ln>
        </p:spPr>
        <p:txBody>
          <a:bodyPr wrap="square" lIns="0" tIns="0" rIns="0" bIns="0" anchor="t">
            <a:noAutofit/>
          </a:bodyPr>
          <a:lstStyle/>
          <a:p>
            <a:pPr algn="l">
              <a:lnSpc>
                <a:spcPct val="115000"/>
              </a:lnSpc>
              <a:spcAft>
                <a:spcPts val="0"/>
              </a:spcAft>
              <a:buNone/>
            </a:pPr>
            <a:r>
              <a:rPr lang="en-US" sz="1875" b="0">
                <a:solidFill>
                  <a:srgbClr val="18334A"/>
                </a:solidFill>
                <a:latin typeface="Arial"/>
                <a:ea typeface="Arial"/>
                <a:cs typeface="Arial"/>
              </a:rPr>
              <a:t>Suhani Gupta  24BDE0042</a:t>
            </a:r>
            <a:endParaRPr lang="en-US" sz="1875"/>
          </a:p>
          <a:p>
            <a:pPr algn="l">
              <a:lnSpc>
                <a:spcPct val="115000"/>
              </a:lnSpc>
              <a:spcAft>
                <a:spcPts val="0"/>
              </a:spcAft>
              <a:buNone/>
            </a:pPr>
            <a:r>
              <a:rPr lang="en-US" sz="1875" b="0">
                <a:solidFill>
                  <a:srgbClr val="18334A"/>
                </a:solidFill>
                <a:latin typeface="Arial"/>
                <a:ea typeface="Arial"/>
                <a:cs typeface="Arial"/>
              </a:rPr>
              <a:t>Kunwar Shaurya Pratap Singh  24BDE0061</a:t>
            </a:r>
            <a:endParaRPr lang="en-US" sz="1875"/>
          </a:p>
          <a:p>
            <a:pPr algn="l">
              <a:lnSpc>
                <a:spcPct val="115000"/>
              </a:lnSpc>
              <a:spcAft>
                <a:spcPts val="0"/>
              </a:spcAft>
              <a:buNone/>
            </a:pPr>
            <a:r>
              <a:rPr lang="en-US" sz="1875" b="0">
                <a:solidFill>
                  <a:srgbClr val="18334A"/>
                </a:solidFill>
                <a:latin typeface="Arial"/>
                <a:ea typeface="Arial"/>
                <a:cs typeface="Arial"/>
              </a:rPr>
              <a:t>Kanan Tayal  24BDE0040</a:t>
            </a:r>
            <a:endParaRPr lang="en-US" sz="1875"/>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The project in one sentence</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02</a:t>
            </a:r>
            <a:endParaRPr lang="en-US" sz="1350"/>
          </a:p>
        </p:txBody>
      </p:sp>
      <p:sp>
        <p:nvSpPr>
          <p:cNvPr id="4" name="Text 4"/>
          <p:cNvSpPr txBox="1"/>
          <p:nvPr/>
        </p:nvSpPr>
        <p:spPr>
          <a:xfrm>
            <a:off x="723900" y="1647825"/>
            <a:ext cx="10668000" cy="1381125"/>
          </a:xfrm>
          <a:prstGeom prst="rect">
            <a:avLst/>
          </a:prstGeom>
          <a:noFill/>
          <a:ln>
            <a:noFill/>
          </a:ln>
        </p:spPr>
        <p:txBody>
          <a:bodyPr wrap="square" lIns="0" tIns="0" rIns="0" bIns="0" anchor="t">
            <a:noAutofit/>
          </a:bodyPr>
          <a:lstStyle/>
          <a:p>
            <a:pPr algn="l">
              <a:lnSpc>
                <a:spcPct val="115000"/>
              </a:lnSpc>
              <a:spcAft>
                <a:spcPts val="0"/>
              </a:spcAft>
              <a:buNone/>
            </a:pPr>
            <a:r>
              <a:rPr lang="en-US" sz="3525" b="1">
                <a:solidFill>
                  <a:srgbClr val="18334A"/>
                </a:solidFill>
                <a:latin typeface="Arial"/>
                <a:ea typeface="Arial"/>
                <a:cs typeface="Arial"/>
              </a:rPr>
              <a:t>We use video motion to guide where</a:t>
            </a:r>
            <a:endParaRPr lang="en-US" sz="3525"/>
          </a:p>
          <a:p>
            <a:pPr algn="l">
              <a:lnSpc>
                <a:spcPct val="115000"/>
              </a:lnSpc>
              <a:spcAft>
                <a:spcPts val="0"/>
              </a:spcAft>
              <a:buNone/>
            </a:pPr>
            <a:r>
              <a:rPr lang="en-US" sz="3525" b="1">
                <a:solidFill>
                  <a:srgbClr val="18334A"/>
                </a:solidFill>
                <a:latin typeface="Arial"/>
                <a:ea typeface="Arial"/>
                <a:cs typeface="Arial"/>
              </a:rPr>
              <a:t>AI attention data is stored.</a:t>
            </a:r>
            <a:endParaRPr lang="en-US" sz="3525"/>
          </a:p>
        </p:txBody>
      </p:sp>
      <p:sp>
        <p:nvSpPr>
          <p:cNvPr id="5" name="Text 5"/>
          <p:cNvSpPr txBox="1"/>
          <p:nvPr/>
        </p:nvSpPr>
        <p:spPr>
          <a:xfrm>
            <a:off x="723900" y="349567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A still background may need different treatment from a moving object.</a:t>
            </a:r>
            <a:endParaRPr lang="en-US" sz="2325"/>
          </a:p>
        </p:txBody>
      </p:sp>
      <p:sp>
        <p:nvSpPr>
          <p:cNvPr id="6" name="Text 6"/>
          <p:cNvSpPr txBox="1"/>
          <p:nvPr/>
        </p:nvSpPr>
        <p:spPr>
          <a:xfrm>
            <a:off x="723900" y="465772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The controller checks safety before the model uses the data.</a:t>
            </a:r>
            <a:endParaRPr lang="en-US" sz="2325"/>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Three terms used in this project</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03</a:t>
            </a:r>
            <a:endParaRPr lang="en-US" sz="1350"/>
          </a:p>
        </p:txBody>
      </p:sp>
      <p:graphicFrame>
        <p:nvGraphicFramePr>
          <p:cNvPr id="4" name="Table 4"/>
          <p:cNvGraphicFramePr/>
          <p:nvPr/>
        </p:nvGraphicFramePr>
        <p:xfrm>
          <a:off x="723900" y="1619250"/>
          <a:ext cx="10668000" cy="4191000"/>
        </p:xfrm>
        <a:graphic>
          <a:graphicData uri="http://schemas.openxmlformats.org/drawingml/2006/main/table">
            <a:tbl>
              <a:tblPr firstRow="1" bandRow="0"/>
              <a:tblGrid>
                <a:gridCol w="2857500"/>
                <a:gridCol w="7810500"/>
              </a:tblGrid>
              <a:tr h="1047750">
                <a:tc>
                  <a:txBody>
                    <a:bodyPr wrap="square" lIns="0" tIns="0" rIns="0" bIns="0"/>
                    <a:lstStyle/>
                    <a:p>
                      <a:pPr algn="l">
                        <a:lnSpc>
                          <a:spcPct val="115000"/>
                        </a:lnSpc>
                        <a:spcAft>
                          <a:spcPts val="0"/>
                        </a:spcAft>
                        <a:buNone/>
                      </a:pPr>
                      <a:r>
                        <a:rPr lang="en-US" sz="2025" b="1">
                          <a:solidFill>
                            <a:srgbClr val="FFFFFF"/>
                          </a:solidFill>
                          <a:latin typeface="Arial"/>
                          <a:ea typeface="Arial"/>
                          <a:cs typeface="Arial"/>
                        </a:rPr>
                        <a:t>Term</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2025" b="1">
                          <a:solidFill>
                            <a:srgbClr val="FFFFFF"/>
                          </a:solidFill>
                          <a:latin typeface="Arial"/>
                          <a:ea typeface="Arial"/>
                          <a:cs typeface="Arial"/>
                        </a:rPr>
                        <a:t>Simple meaning</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r>
              <a:tr h="10477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Token and page</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A token represents an image patch.</a:t>
                      </a:r>
                      <a:endParaRPr lang="en-US" sz="2025"/>
                    </a:p>
                    <a:p>
                      <a:pPr algn="l">
                        <a:lnSpc>
                          <a:spcPct val="115000"/>
                        </a:lnSpc>
                        <a:spcAft>
                          <a:spcPts val="0"/>
                        </a:spcAft>
                        <a:buNone/>
                      </a:pPr>
                      <a:r>
                        <a:rPr lang="en-US" sz="2025" b="0">
                          <a:solidFill>
                            <a:srgbClr val="18334A"/>
                          </a:solidFill>
                          <a:latin typeface="Arial"/>
                          <a:ea typeface="Arial"/>
                          <a:cs typeface="Arial"/>
                        </a:rPr>
                        <a:t>A page groups several tokens.</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10477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K and V</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Keys and values hold intermediate</a:t>
                      </a:r>
                      <a:endParaRPr lang="en-US" sz="2025"/>
                    </a:p>
                    <a:p>
                      <a:pPr algn="l">
                        <a:lnSpc>
                          <a:spcPct val="115000"/>
                        </a:lnSpc>
                        <a:spcAft>
                          <a:spcPts val="0"/>
                        </a:spcAft>
                        <a:buNone/>
                      </a:pPr>
                      <a:r>
                        <a:rPr lang="en-US" sz="2025" b="0">
                          <a:solidFill>
                            <a:srgbClr val="18334A"/>
                          </a:solidFill>
                          <a:latin typeface="Arial"/>
                          <a:ea typeface="Arial"/>
                          <a:cs typeface="Arial"/>
                        </a:rPr>
                        <a:t>features used by attention.</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r h="10477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Residency</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The storage location and</a:t>
                      </a:r>
                      <a:endParaRPr lang="en-US" sz="2025"/>
                    </a:p>
                    <a:p>
                      <a:pPr algn="l">
                        <a:lnSpc>
                          <a:spcPct val="115000"/>
                        </a:lnSpc>
                        <a:spcAft>
                          <a:spcPts val="0"/>
                        </a:spcAft>
                        <a:buNone/>
                      </a:pPr>
                      <a:r>
                        <a:rPr lang="en-US" sz="2025" b="0">
                          <a:solidFill>
                            <a:srgbClr val="18334A"/>
                          </a:solidFill>
                          <a:latin typeface="Arial"/>
                          <a:ea typeface="Arial"/>
                          <a:cs typeface="Arial"/>
                        </a:rPr>
                        <a:t>representation of a page.</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Why the project is useful</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04</a:t>
            </a:r>
            <a:endParaRPr lang="en-US" sz="1350"/>
          </a:p>
        </p:txBody>
      </p:sp>
      <p:sp>
        <p:nvSpPr>
          <p:cNvPr id="4" name="Text 4"/>
          <p:cNvSpPr txBox="1"/>
          <p:nvPr/>
        </p:nvSpPr>
        <p:spPr>
          <a:xfrm>
            <a:off x="723900" y="16573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Video frames often contain repeated visual content.</a:t>
            </a:r>
            <a:endParaRPr lang="en-US" sz="2550"/>
          </a:p>
        </p:txBody>
      </p:sp>
      <p:sp>
        <p:nvSpPr>
          <p:cNvPr id="5" name="Text 5"/>
          <p:cNvSpPr txBox="1"/>
          <p:nvPr/>
        </p:nvSpPr>
        <p:spPr>
          <a:xfrm>
            <a:off x="723900" y="28003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Attention still produces K and V for many image patches.</a:t>
            </a:r>
            <a:endParaRPr lang="en-US" sz="2550"/>
          </a:p>
        </p:txBody>
      </p:sp>
      <p:sp>
        <p:nvSpPr>
          <p:cNvPr id="6" name="Text 6"/>
          <p:cNvSpPr txBox="1"/>
          <p:nvPr/>
        </p:nvSpPr>
        <p:spPr>
          <a:xfrm>
            <a:off x="723900" y="39433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We study how each page can use a suitable storage representation.</a:t>
            </a:r>
            <a:endParaRPr lang="en-US" sz="2550"/>
          </a:p>
        </p:txBody>
      </p:sp>
      <p:sp>
        <p:nvSpPr>
          <p:cNvPr id="7" name="Text 7"/>
          <p:cNvSpPr txBox="1"/>
          <p:nvPr/>
        </p:nvSpPr>
        <p:spPr>
          <a:xfrm>
            <a:off x="723900" y="5438775"/>
            <a:ext cx="10668000" cy="533400"/>
          </a:xfrm>
          <a:prstGeom prst="rect">
            <a:avLst/>
          </a:prstGeom>
          <a:noFill/>
          <a:ln>
            <a:noFill/>
          </a:ln>
        </p:spPr>
        <p:txBody>
          <a:bodyPr wrap="square" lIns="0" tIns="0" rIns="0" bIns="0" anchor="t">
            <a:noAutofit/>
          </a:bodyPr>
          <a:lstStyle/>
          <a:p>
            <a:pPr algn="l">
              <a:lnSpc>
                <a:spcPct val="115000"/>
              </a:lnSpc>
              <a:spcAft>
                <a:spcPts val="0"/>
              </a:spcAft>
              <a:buNone/>
            </a:pPr>
            <a:r>
              <a:rPr lang="en-US" sz="2100" b="1">
                <a:solidFill>
                  <a:srgbClr val="206A87"/>
                </a:solidFill>
                <a:latin typeface="Arial"/>
                <a:ea typeface="Arial"/>
                <a:cs typeface="Arial"/>
              </a:rPr>
              <a:t>Goal: reduce avoidable storage work while preserving safe access.</a:t>
            </a:r>
            <a:endParaRPr lang="en-US" sz="2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The AI components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05</a:t>
            </a:r>
            <a:endParaRPr lang="en-US" sz="1350"/>
          </a:p>
        </p:txBody>
      </p:sp>
      <p:sp>
        <p:nvSpPr>
          <p:cNvPr id="4" name="Text 4"/>
          <p:cNvSpPr txBox="1"/>
          <p:nvPr/>
        </p:nvSpPr>
        <p:spPr>
          <a:xfrm>
            <a:off x="723900" y="1704975"/>
            <a:ext cx="10668000" cy="571500"/>
          </a:xfrm>
          <a:prstGeom prst="rect">
            <a:avLst/>
          </a:prstGeom>
          <a:noFill/>
          <a:ln>
            <a:noFill/>
          </a:ln>
        </p:spPr>
        <p:txBody>
          <a:bodyPr wrap="square" lIns="0" tIns="0" rIns="0" bIns="0" anchor="t">
            <a:noAutofit/>
          </a:bodyPr>
          <a:lstStyle/>
          <a:p>
            <a:pPr algn="l">
              <a:lnSpc>
                <a:spcPct val="115000"/>
              </a:lnSpc>
              <a:spcAft>
                <a:spcPts val="0"/>
              </a:spcAft>
              <a:buNone/>
            </a:pPr>
            <a:r>
              <a:rPr lang="en-US" sz="2850" b="1">
                <a:solidFill>
                  <a:srgbClr val="18334A"/>
                </a:solidFill>
                <a:latin typeface="Arial"/>
                <a:ea typeface="Arial"/>
                <a:cs typeface="Arial"/>
              </a:rPr>
              <a:t>ViT-Tiny supplies model feedback.</a:t>
            </a:r>
            <a:endParaRPr lang="en-US" sz="2850"/>
          </a:p>
        </p:txBody>
      </p:sp>
      <p:sp>
        <p:nvSpPr>
          <p:cNvPr id="5" name="Text 5"/>
          <p:cNvSpPr txBox="1"/>
          <p:nvPr/>
        </p:nvSpPr>
        <p:spPr>
          <a:xfrm>
            <a:off x="723900" y="256222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The model processes small image patches using attention.</a:t>
            </a:r>
            <a:endParaRPr lang="en-US" sz="2325"/>
          </a:p>
        </p:txBody>
      </p:sp>
      <p:sp>
        <p:nvSpPr>
          <p:cNvPr id="6" name="Text 6"/>
          <p:cNvSpPr txBox="1"/>
          <p:nvPr/>
        </p:nvSpPr>
        <p:spPr>
          <a:xfrm>
            <a:off x="723900" y="359092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Attention scores provide a signal about page importance.</a:t>
            </a:r>
            <a:endParaRPr lang="en-US" sz="2325"/>
          </a:p>
        </p:txBody>
      </p:sp>
      <p:sp>
        <p:nvSpPr>
          <p:cNvPr id="7" name="Text 7"/>
          <p:cNvSpPr txBox="1"/>
          <p:nvPr/>
        </p:nvSpPr>
        <p:spPr>
          <a:xfrm>
            <a:off x="723900" y="461962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Temporal rules track whether activity stays low or changes.</a:t>
            </a:r>
            <a:endParaRPr lang="en-US" sz="2325"/>
          </a:p>
        </p:txBody>
      </p:sp>
      <p:sp>
        <p:nvSpPr>
          <p:cNvPr id="8" name="Text 8"/>
          <p:cNvSpPr txBox="1"/>
          <p:nvPr/>
        </p:nvSpPr>
        <p:spPr>
          <a:xfrm>
            <a:off x="723900" y="5810250"/>
            <a:ext cx="10668000" cy="361950"/>
          </a:xfrm>
          <a:prstGeom prst="rect">
            <a:avLst/>
          </a:prstGeom>
          <a:noFill/>
          <a:ln>
            <a:noFill/>
          </a:ln>
        </p:spPr>
        <p:txBody>
          <a:bodyPr wrap="square" lIns="0" tIns="0" rIns="0" bIns="0" anchor="t">
            <a:noAutofit/>
          </a:bodyPr>
          <a:lstStyle/>
          <a:p>
            <a:pPr algn="l">
              <a:lnSpc>
                <a:spcPct val="115000"/>
              </a:lnSpc>
              <a:spcAft>
                <a:spcPts val="0"/>
              </a:spcAft>
              <a:buNone/>
            </a:pPr>
            <a:r>
              <a:rPr lang="en-US" sz="1875" b="0">
                <a:solidFill>
                  <a:srgbClr val="52606D"/>
                </a:solidFill>
                <a:latin typeface="Arial"/>
                <a:ea typeface="Arial"/>
                <a:cs typeface="Arial"/>
              </a:rPr>
              <a:t>We use a pretrained classifier. We do not train a new model.</a:t>
            </a:r>
            <a:endParaRPr lang="en-US" sz="1875"/>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How one video frame moves through the system</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06</a:t>
            </a:r>
            <a:endParaRPr lang="en-US" sz="1350"/>
          </a:p>
        </p:txBody>
      </p:sp>
      <p:sp>
        <p:nvSpPr>
          <p:cNvPr id="4" name="Text 4"/>
          <p:cNvSpPr txBox="1"/>
          <p:nvPr/>
        </p:nvSpPr>
        <p:spPr>
          <a:xfrm>
            <a:off x="742950" y="1666875"/>
            <a:ext cx="714375" cy="523875"/>
          </a:xfrm>
          <a:prstGeom prst="rect">
            <a:avLst/>
          </a:prstGeom>
          <a:noFill/>
          <a:ln>
            <a:noFill/>
          </a:ln>
        </p:spPr>
        <p:txBody>
          <a:bodyPr wrap="square" lIns="0" tIns="0" rIns="0" bIns="0" anchor="t">
            <a:noAutofit/>
          </a:bodyPr>
          <a:lstStyle/>
          <a:p>
            <a:pPr algn="l">
              <a:lnSpc>
                <a:spcPct val="115000"/>
              </a:lnSpc>
              <a:spcAft>
                <a:spcPts val="0"/>
              </a:spcAft>
              <a:buNone/>
            </a:pPr>
            <a:r>
              <a:rPr lang="en-US" sz="2775" b="1">
                <a:solidFill>
                  <a:srgbClr val="206A87"/>
                </a:solidFill>
                <a:latin typeface="Arial"/>
                <a:ea typeface="Arial"/>
                <a:cs typeface="Arial"/>
              </a:rPr>
              <a:t>01</a:t>
            </a:r>
            <a:endParaRPr lang="en-US" sz="2775"/>
          </a:p>
        </p:txBody>
      </p:sp>
      <p:sp>
        <p:nvSpPr>
          <p:cNvPr id="5" name="Text 5"/>
          <p:cNvSpPr txBox="1"/>
          <p:nvPr/>
        </p:nvSpPr>
        <p:spPr>
          <a:xfrm>
            <a:off x="1714500" y="1704975"/>
            <a:ext cx="9525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Read motion information from the encoded video.</a:t>
            </a:r>
            <a:endParaRPr lang="en-US" sz="2325"/>
          </a:p>
        </p:txBody>
      </p:sp>
      <p:sp>
        <p:nvSpPr>
          <p:cNvPr id="6" name="Text 6"/>
          <p:cNvSpPr txBox="1"/>
          <p:nvPr/>
        </p:nvSpPr>
        <p:spPr>
          <a:xfrm>
            <a:off x="742950" y="2600325"/>
            <a:ext cx="714375" cy="523875"/>
          </a:xfrm>
          <a:prstGeom prst="rect">
            <a:avLst/>
          </a:prstGeom>
          <a:noFill/>
          <a:ln>
            <a:noFill/>
          </a:ln>
        </p:spPr>
        <p:txBody>
          <a:bodyPr wrap="square" lIns="0" tIns="0" rIns="0" bIns="0" anchor="t">
            <a:noAutofit/>
          </a:bodyPr>
          <a:lstStyle/>
          <a:p>
            <a:pPr algn="l">
              <a:lnSpc>
                <a:spcPct val="115000"/>
              </a:lnSpc>
              <a:spcAft>
                <a:spcPts val="0"/>
              </a:spcAft>
              <a:buNone/>
            </a:pPr>
            <a:r>
              <a:rPr lang="en-US" sz="2775" b="1">
                <a:solidFill>
                  <a:srgbClr val="206A87"/>
                </a:solidFill>
                <a:latin typeface="Arial"/>
                <a:ea typeface="Arial"/>
                <a:cs typeface="Arial"/>
              </a:rPr>
              <a:t>02</a:t>
            </a:r>
            <a:endParaRPr lang="en-US" sz="2775"/>
          </a:p>
        </p:txBody>
      </p:sp>
      <p:sp>
        <p:nvSpPr>
          <p:cNvPr id="7" name="Text 7"/>
          <p:cNvSpPr txBox="1"/>
          <p:nvPr/>
        </p:nvSpPr>
        <p:spPr>
          <a:xfrm>
            <a:off x="1714500" y="2638425"/>
            <a:ext cx="9525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Match video regions to the model's image tokens.</a:t>
            </a:r>
            <a:endParaRPr lang="en-US" sz="2325"/>
          </a:p>
        </p:txBody>
      </p:sp>
      <p:sp>
        <p:nvSpPr>
          <p:cNvPr id="8" name="Text 8"/>
          <p:cNvSpPr txBox="1"/>
          <p:nvPr/>
        </p:nvSpPr>
        <p:spPr>
          <a:xfrm>
            <a:off x="742950" y="3533775"/>
            <a:ext cx="714375" cy="523875"/>
          </a:xfrm>
          <a:prstGeom prst="rect">
            <a:avLst/>
          </a:prstGeom>
          <a:noFill/>
          <a:ln>
            <a:noFill/>
          </a:ln>
        </p:spPr>
        <p:txBody>
          <a:bodyPr wrap="square" lIns="0" tIns="0" rIns="0" bIns="0" anchor="t">
            <a:noAutofit/>
          </a:bodyPr>
          <a:lstStyle/>
          <a:p>
            <a:pPr algn="l">
              <a:lnSpc>
                <a:spcPct val="115000"/>
              </a:lnSpc>
              <a:spcAft>
                <a:spcPts val="0"/>
              </a:spcAft>
              <a:buNone/>
            </a:pPr>
            <a:r>
              <a:rPr lang="en-US" sz="2775" b="1">
                <a:solidFill>
                  <a:srgbClr val="206A87"/>
                </a:solidFill>
                <a:latin typeface="Arial"/>
                <a:ea typeface="Arial"/>
                <a:cs typeface="Arial"/>
              </a:rPr>
              <a:t>03</a:t>
            </a:r>
            <a:endParaRPr lang="en-US" sz="2775"/>
          </a:p>
        </p:txBody>
      </p:sp>
      <p:sp>
        <p:nvSpPr>
          <p:cNvPr id="9" name="Text 9"/>
          <p:cNvSpPr txBox="1"/>
          <p:nvPr/>
        </p:nvSpPr>
        <p:spPr>
          <a:xfrm>
            <a:off x="1714500" y="3571875"/>
            <a:ext cx="9525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Use recent history to choose a storage tier.</a:t>
            </a:r>
            <a:endParaRPr lang="en-US" sz="2325"/>
          </a:p>
        </p:txBody>
      </p:sp>
      <p:sp>
        <p:nvSpPr>
          <p:cNvPr id="10" name="Text 10"/>
          <p:cNvSpPr txBox="1"/>
          <p:nvPr/>
        </p:nvSpPr>
        <p:spPr>
          <a:xfrm>
            <a:off x="742950" y="4467225"/>
            <a:ext cx="714375" cy="523875"/>
          </a:xfrm>
          <a:prstGeom prst="rect">
            <a:avLst/>
          </a:prstGeom>
          <a:noFill/>
          <a:ln>
            <a:noFill/>
          </a:ln>
        </p:spPr>
        <p:txBody>
          <a:bodyPr wrap="square" lIns="0" tIns="0" rIns="0" bIns="0" anchor="t">
            <a:noAutofit/>
          </a:bodyPr>
          <a:lstStyle/>
          <a:p>
            <a:pPr algn="l">
              <a:lnSpc>
                <a:spcPct val="115000"/>
              </a:lnSpc>
              <a:spcAft>
                <a:spcPts val="0"/>
              </a:spcAft>
              <a:buNone/>
            </a:pPr>
            <a:r>
              <a:rPr lang="en-US" sz="2775" b="1">
                <a:solidFill>
                  <a:srgbClr val="206A87"/>
                </a:solidFill>
                <a:latin typeface="Arial"/>
                <a:ea typeface="Arial"/>
                <a:cs typeface="Arial"/>
              </a:rPr>
              <a:t>04</a:t>
            </a:r>
            <a:endParaRPr lang="en-US" sz="2775"/>
          </a:p>
        </p:txBody>
      </p:sp>
      <p:sp>
        <p:nvSpPr>
          <p:cNvPr id="11" name="Text 11"/>
          <p:cNvSpPr txBox="1"/>
          <p:nvPr/>
        </p:nvSpPr>
        <p:spPr>
          <a:xfrm>
            <a:off x="1714500" y="4505325"/>
            <a:ext cx="9525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Commit the mapping before attention reads the page.</a:t>
            </a:r>
            <a:endParaRPr lang="en-US" sz="2325"/>
          </a:p>
        </p:txBody>
      </p:sp>
      <p:sp>
        <p:nvSpPr>
          <p:cNvPr id="12" name="Text 12"/>
          <p:cNvSpPr txBox="1"/>
          <p:nvPr/>
        </p:nvSpPr>
        <p:spPr>
          <a:xfrm>
            <a:off x="1714500" y="5638800"/>
            <a:ext cx="9525000" cy="590550"/>
          </a:xfrm>
          <a:prstGeom prst="rect">
            <a:avLst/>
          </a:prstGeom>
          <a:noFill/>
          <a:ln>
            <a:noFill/>
          </a:ln>
        </p:spPr>
        <p:txBody>
          <a:bodyPr wrap="square" lIns="0" tIns="0" rIns="0" bIns="0" anchor="t">
            <a:noAutofit/>
          </a:bodyPr>
          <a:lstStyle/>
          <a:p>
            <a:pPr algn="l">
              <a:lnSpc>
                <a:spcPct val="115000"/>
              </a:lnSpc>
              <a:spcAft>
                <a:spcPts val="0"/>
              </a:spcAft>
              <a:buNone/>
            </a:pPr>
            <a:r>
              <a:rPr lang="en-US" sz="1950" b="0">
                <a:solidFill>
                  <a:srgbClr val="52606D"/>
                </a:solidFill>
                <a:latin typeface="Arial"/>
                <a:ea typeface="Arial"/>
                <a:cs typeface="Arial"/>
              </a:rPr>
              <a:t>Model feedback can request a correction through the same controller.</a:t>
            </a:r>
            <a:endParaRPr lang="en-US" sz="195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Matching motion regions to image tokens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07</a:t>
            </a:r>
            <a:endParaRPr lang="en-US" sz="1350"/>
          </a:p>
        </p:txBody>
      </p:sp>
      <p:pic>
        <p:nvPicPr>
          <p:cNvPr id="4" name="geometry"/>
          <p:cNvPicPr>
            <a:picLocks noChangeAspect="1"/>
          </p:cNvPicPr>
          <p:nvPr/>
        </p:nvPicPr>
        <p:blipFill>
          <a:blip r:embed="rId2"/>
          <a:stretch>
            <a:fillRect/>
          </a:stretch>
        </p:blipFill>
        <p:spPr>
          <a:xfrm>
            <a:off x="704850" y="1743075"/>
            <a:ext cx="6096000" cy="3048000"/>
          </a:xfrm>
          <a:prstGeom prst="rect">
            <a:avLst/>
          </a:prstGeom>
        </p:spPr>
      </p:pic>
      <p:sp>
        <p:nvSpPr>
          <p:cNvPr id="5" name="Text 5"/>
          <p:cNvSpPr txBox="1"/>
          <p:nvPr/>
        </p:nvSpPr>
        <p:spPr>
          <a:xfrm>
            <a:off x="7239000" y="1962150"/>
            <a:ext cx="4191000" cy="1047750"/>
          </a:xfrm>
          <a:prstGeom prst="rect">
            <a:avLst/>
          </a:prstGeom>
          <a:noFill/>
          <a:ln>
            <a:noFill/>
          </a:ln>
        </p:spPr>
        <p:txBody>
          <a:bodyPr wrap="square" lIns="0" tIns="0" rIns="0" bIns="0" anchor="t">
            <a:noAutofit/>
          </a:bodyPr>
          <a:lstStyle/>
          <a:p>
            <a:pPr algn="l">
              <a:lnSpc>
                <a:spcPct val="115000"/>
              </a:lnSpc>
              <a:spcAft>
                <a:spcPts val="0"/>
              </a:spcAft>
              <a:buNone/>
            </a:pPr>
            <a:r>
              <a:rPr lang="en-US" sz="2250" b="1">
                <a:solidFill>
                  <a:srgbClr val="18334A"/>
                </a:solidFill>
                <a:latin typeface="Arial"/>
                <a:ea typeface="Arial"/>
                <a:cs typeface="Arial"/>
              </a:rPr>
              <a:t>The codec uses video blocks.</a:t>
            </a:r>
            <a:endParaRPr lang="en-US" sz="2250"/>
          </a:p>
          <a:p>
            <a:pPr algn="l">
              <a:lnSpc>
                <a:spcPct val="115000"/>
              </a:lnSpc>
              <a:spcAft>
                <a:spcPts val="0"/>
              </a:spcAft>
              <a:buNone/>
            </a:pPr>
            <a:r>
              <a:rPr lang="en-US" sz="2250" b="1">
                <a:solidFill>
                  <a:srgbClr val="18334A"/>
                </a:solidFill>
                <a:latin typeface="Arial"/>
                <a:ea typeface="Arial"/>
                <a:cs typeface="Arial"/>
              </a:rPr>
              <a:t>The model uses image patches.</a:t>
            </a:r>
            <a:endParaRPr lang="en-US" sz="2250"/>
          </a:p>
        </p:txBody>
      </p:sp>
      <p:sp>
        <p:nvSpPr>
          <p:cNvPr id="6" name="Text 6"/>
          <p:cNvSpPr txBox="1"/>
          <p:nvPr/>
        </p:nvSpPr>
        <p:spPr>
          <a:xfrm>
            <a:off x="7239000" y="3467100"/>
            <a:ext cx="4191000" cy="1047750"/>
          </a:xfrm>
          <a:prstGeom prst="rect">
            <a:avLst/>
          </a:prstGeom>
          <a:noFill/>
          <a:ln>
            <a:noFill/>
          </a:ln>
        </p:spPr>
        <p:txBody>
          <a:bodyPr wrap="square" lIns="0" tIns="0" rIns="0" bIns="0" anchor="t">
            <a:noAutofit/>
          </a:bodyPr>
          <a:lstStyle/>
          <a:p>
            <a:pPr algn="l">
              <a:lnSpc>
                <a:spcPct val="115000"/>
              </a:lnSpc>
              <a:spcAft>
                <a:spcPts val="0"/>
              </a:spcAft>
              <a:buNone/>
            </a:pPr>
            <a:r>
              <a:rPr lang="en-US" sz="2250" b="0">
                <a:solidFill>
                  <a:srgbClr val="18334A"/>
                </a:solidFill>
                <a:latin typeface="Arial"/>
                <a:ea typeface="Arial"/>
                <a:cs typeface="Arial"/>
              </a:rPr>
              <a:t>We map both to the original</a:t>
            </a:r>
            <a:endParaRPr lang="en-US" sz="2250"/>
          </a:p>
          <a:p>
            <a:pPr algn="l">
              <a:lnSpc>
                <a:spcPct val="115000"/>
              </a:lnSpc>
              <a:spcAft>
                <a:spcPts val="0"/>
              </a:spcAft>
              <a:buNone/>
            </a:pPr>
            <a:r>
              <a:rPr lang="en-US" sz="2250" b="0">
                <a:solidFill>
                  <a:srgbClr val="18334A"/>
                </a:solidFill>
                <a:latin typeface="Arial"/>
                <a:ea typeface="Arial"/>
                <a:cs typeface="Arial"/>
              </a:rPr>
              <a:t>frame before comparing them.</a:t>
            </a:r>
            <a:endParaRPr lang="en-US" sz="2250"/>
          </a:p>
        </p:txBody>
      </p:sp>
      <p:sp>
        <p:nvSpPr>
          <p:cNvPr id="7" name="Text 7"/>
          <p:cNvSpPr txBox="1"/>
          <p:nvPr/>
        </p:nvSpPr>
        <p:spPr>
          <a:xfrm>
            <a:off x="723900" y="5534025"/>
            <a:ext cx="10668000" cy="590550"/>
          </a:xfrm>
          <a:prstGeom prst="rect">
            <a:avLst/>
          </a:prstGeom>
          <a:noFill/>
          <a:ln>
            <a:noFill/>
          </a:ln>
        </p:spPr>
        <p:txBody>
          <a:bodyPr wrap="square" lIns="0" tIns="0" rIns="0" bIns="0" anchor="t">
            <a:noAutofit/>
          </a:bodyPr>
          <a:lstStyle/>
          <a:p>
            <a:pPr algn="l">
              <a:lnSpc>
                <a:spcPct val="115000"/>
              </a:lnSpc>
              <a:spcAft>
                <a:spcPts val="0"/>
              </a:spcAft>
              <a:buNone/>
            </a:pPr>
            <a:r>
              <a:rPr lang="en-US" sz="2175" b="0">
                <a:solidFill>
                  <a:srgbClr val="206A87"/>
                </a:solidFill>
                <a:latin typeface="Arial"/>
                <a:ea typeface="Arial"/>
                <a:cs typeface="Arial"/>
              </a:rPr>
              <a:t>This step prevents incorrect motion to token matching.</a:t>
            </a:r>
            <a:endParaRPr lang="en-US" sz="2175"/>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The three live storage tiers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08</a:t>
            </a:r>
            <a:endParaRPr lang="en-US" sz="1350"/>
          </a:p>
        </p:txBody>
      </p:sp>
      <p:graphicFrame>
        <p:nvGraphicFramePr>
          <p:cNvPr id="4" name="Table 4"/>
          <p:cNvGraphicFramePr/>
          <p:nvPr/>
        </p:nvGraphicFramePr>
        <p:xfrm>
          <a:off x="723900" y="1676400"/>
          <a:ext cx="10668000" cy="3810000"/>
        </p:xfrm>
        <a:graphic>
          <a:graphicData uri="http://schemas.openxmlformats.org/drawingml/2006/main/table">
            <a:tbl>
              <a:tblPr firstRow="1" bandRow="0"/>
              <a:tblGrid>
                <a:gridCol w="1095375"/>
                <a:gridCol w="4191000"/>
                <a:gridCol w="5381625"/>
              </a:tblGrid>
              <a:tr h="952500">
                <a:tc>
                  <a:txBody>
                    <a:bodyPr wrap="square" lIns="0" tIns="0" rIns="0" bIns="0"/>
                    <a:lstStyle/>
                    <a:p>
                      <a:pPr algn="l">
                        <a:lnSpc>
                          <a:spcPct val="115000"/>
                        </a:lnSpc>
                        <a:spcAft>
                          <a:spcPts val="0"/>
                        </a:spcAft>
                        <a:buNone/>
                      </a:pPr>
                      <a:r>
                        <a:rPr lang="en-US" sz="1950" b="1">
                          <a:solidFill>
                            <a:srgbClr val="FFFFFF"/>
                          </a:solidFill>
                          <a:latin typeface="Arial"/>
                          <a:ea typeface="Arial"/>
                          <a:cs typeface="Arial"/>
                        </a:rPr>
                        <a:t>Tier</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1950" b="1">
                          <a:solidFill>
                            <a:srgbClr val="FFFFFF"/>
                          </a:solidFill>
                          <a:latin typeface="Arial"/>
                          <a:ea typeface="Arial"/>
                          <a:cs typeface="Arial"/>
                        </a:rPr>
                        <a:t>Representation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1950" b="1">
                          <a:solidFill>
                            <a:srgbClr val="FFFFFF"/>
                          </a:solidFill>
                          <a:latin typeface="Arial"/>
                          <a:ea typeface="Arial"/>
                          <a:cs typeface="Arial"/>
                        </a:rPr>
                        <a:t>Simple explanation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r>
              <a:tr h="9525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T0</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fp16</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Keep the preferred tensor format.</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9525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T1</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int8 on CPU</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Use reduced precision.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r h="9525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T2</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Compressed fp16 on CPU</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Store compressed tensor bytes.</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bl>
          </a:graphicData>
        </a:graphic>
      </p:graphicFrame>
      <p:sp>
        <p:nvSpPr>
          <p:cNvPr id="5" name="Text 5"/>
          <p:cNvSpPr txBox="1"/>
          <p:nvPr/>
        </p:nvSpPr>
        <p:spPr>
          <a:xfrm>
            <a:off x="723900" y="5867400"/>
            <a:ext cx="10668000" cy="447675"/>
          </a:xfrm>
          <a:prstGeom prst="rect">
            <a:avLst/>
          </a:prstGeom>
          <a:noFill/>
          <a:ln>
            <a:noFill/>
          </a:ln>
        </p:spPr>
        <p:txBody>
          <a:bodyPr wrap="square" lIns="0" tIns="0" rIns="0" bIns="0" anchor="t">
            <a:noAutofit/>
          </a:bodyPr>
          <a:lstStyle/>
          <a:p>
            <a:pPr algn="l">
              <a:lnSpc>
                <a:spcPct val="115000"/>
              </a:lnSpc>
              <a:spcAft>
                <a:spcPts val="0"/>
              </a:spcAft>
              <a:buNone/>
            </a:pPr>
            <a:r>
              <a:rPr lang="en-US" sz="2250" b="1">
                <a:solidFill>
                  <a:srgbClr val="206A87"/>
                </a:solidFill>
                <a:latin typeface="Arial"/>
                <a:ea typeface="Arial"/>
                <a:cs typeface="Arial"/>
              </a:rPr>
              <a:t>The controller chooses a tier for each logical page.</a:t>
            </a:r>
            <a:endParaRPr lang="en-US" sz="225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Recent history changes the decision</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09</a:t>
            </a:r>
            <a:endParaRPr lang="en-US" sz="1350"/>
          </a:p>
        </p:txBody>
      </p:sp>
      <p:sp>
        <p:nvSpPr>
          <p:cNvPr id="4" name="Text 4"/>
          <p:cNvSpPr txBox="1"/>
          <p:nvPr/>
        </p:nvSpPr>
        <p:spPr>
          <a:xfrm>
            <a:off x="723900" y="1714500"/>
            <a:ext cx="10668000" cy="571500"/>
          </a:xfrm>
          <a:prstGeom prst="rect">
            <a:avLst/>
          </a:prstGeom>
          <a:noFill/>
          <a:ln>
            <a:noFill/>
          </a:ln>
        </p:spPr>
        <p:txBody>
          <a:bodyPr wrap="square" lIns="0" tIns="0" rIns="0" bIns="0" anchor="t">
            <a:noAutofit/>
          </a:bodyPr>
          <a:lstStyle/>
          <a:p>
            <a:pPr algn="l">
              <a:lnSpc>
                <a:spcPct val="115000"/>
              </a:lnSpc>
              <a:spcAft>
                <a:spcPts val="0"/>
              </a:spcAft>
              <a:buNone/>
            </a:pPr>
            <a:r>
              <a:rPr lang="en-US" sz="2925" b="1">
                <a:solidFill>
                  <a:srgbClr val="18334A"/>
                </a:solidFill>
                <a:latin typeface="Arial"/>
                <a:ea typeface="Arial"/>
                <a:cs typeface="Arial"/>
              </a:rPr>
              <a:t>Moving content stays active.</a:t>
            </a:r>
            <a:endParaRPr lang="en-US" sz="2925"/>
          </a:p>
        </p:txBody>
      </p:sp>
      <p:sp>
        <p:nvSpPr>
          <p:cNvPr id="5" name="Text 5"/>
          <p:cNvSpPr txBox="1"/>
          <p:nvPr/>
        </p:nvSpPr>
        <p:spPr>
          <a:xfrm>
            <a:off x="723900" y="27241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475" b="0">
                <a:solidFill>
                  <a:srgbClr val="18334A"/>
                </a:solidFill>
                <a:latin typeface="Arial"/>
                <a:ea typeface="Arial"/>
                <a:cs typeface="Arial"/>
              </a:rPr>
              <a:t>Repeated quiet frames can make a page static.</a:t>
            </a:r>
            <a:endParaRPr lang="en-US" sz="2475"/>
          </a:p>
        </p:txBody>
      </p:sp>
      <p:sp>
        <p:nvSpPr>
          <p:cNvPr id="6" name="Text 6"/>
          <p:cNvSpPr txBox="1"/>
          <p:nvPr/>
        </p:nvSpPr>
        <p:spPr>
          <a:xfrm>
            <a:off x="723900" y="380047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475" b="0">
                <a:solidFill>
                  <a:srgbClr val="18334A"/>
                </a:solidFill>
                <a:latin typeface="Arial"/>
                <a:ea typeface="Arial"/>
                <a:cs typeface="Arial"/>
              </a:rPr>
              <a:t>A scene change resets assumptions about stability.</a:t>
            </a:r>
            <a:endParaRPr lang="en-US" sz="2475"/>
          </a:p>
        </p:txBody>
      </p:sp>
      <p:sp>
        <p:nvSpPr>
          <p:cNvPr id="7" name="Text 7"/>
          <p:cNvSpPr txBox="1"/>
          <p:nvPr/>
        </p:nvSpPr>
        <p:spPr>
          <a:xfrm>
            <a:off x="723900" y="487680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475" b="0">
                <a:solidFill>
                  <a:srgbClr val="18334A"/>
                </a:solidFill>
                <a:latin typeface="Arial"/>
                <a:ea typeface="Arial"/>
                <a:cs typeface="Arial"/>
              </a:rPr>
              <a:t>Missing motion information triggers conservative handling.</a:t>
            </a:r>
            <a:endParaRPr lang="en-US" sz="2475"/>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Quiet content can still be important</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10</a:t>
            </a:r>
            <a:endParaRPr lang="en-US" sz="1350"/>
          </a:p>
        </p:txBody>
      </p:sp>
      <p:sp>
        <p:nvSpPr>
          <p:cNvPr id="4" name="Text 4"/>
          <p:cNvSpPr txBox="1"/>
          <p:nvPr/>
        </p:nvSpPr>
        <p:spPr>
          <a:xfrm>
            <a:off x="723900" y="1685925"/>
            <a:ext cx="10668000" cy="1238250"/>
          </a:xfrm>
          <a:prstGeom prst="rect">
            <a:avLst/>
          </a:prstGeom>
          <a:noFill/>
          <a:ln>
            <a:noFill/>
          </a:ln>
        </p:spPr>
        <p:txBody>
          <a:bodyPr wrap="square" lIns="0" tIns="0" rIns="0" bIns="0" anchor="t">
            <a:noAutofit/>
          </a:bodyPr>
          <a:lstStyle/>
          <a:p>
            <a:pPr algn="l">
              <a:lnSpc>
                <a:spcPct val="115000"/>
              </a:lnSpc>
              <a:spcAft>
                <a:spcPts val="0"/>
              </a:spcAft>
              <a:buNone/>
            </a:pPr>
            <a:r>
              <a:rPr lang="en-US" sz="3375" b="1">
                <a:solidFill>
                  <a:srgbClr val="18334A"/>
                </a:solidFill>
                <a:latin typeface="Arial"/>
                <a:ea typeface="Arial"/>
                <a:cs typeface="Arial"/>
              </a:rPr>
              <a:t>Example: a stationary sign may</a:t>
            </a:r>
            <a:endParaRPr lang="en-US" sz="3375"/>
          </a:p>
          <a:p>
            <a:pPr algn="l">
              <a:lnSpc>
                <a:spcPct val="115000"/>
              </a:lnSpc>
              <a:spcAft>
                <a:spcPts val="0"/>
              </a:spcAft>
              <a:buNone/>
            </a:pPr>
            <a:r>
              <a:rPr lang="en-US" sz="3375" b="1">
                <a:solidFill>
                  <a:srgbClr val="18334A"/>
                </a:solidFill>
                <a:latin typeface="Arial"/>
                <a:ea typeface="Arial"/>
                <a:cs typeface="Arial"/>
              </a:rPr>
              <a:t>still matter to the model.</a:t>
            </a:r>
            <a:endParaRPr lang="en-US" sz="3375"/>
          </a:p>
        </p:txBody>
      </p:sp>
      <p:sp>
        <p:nvSpPr>
          <p:cNvPr id="5" name="Text 5"/>
          <p:cNvSpPr txBox="1"/>
          <p:nvPr/>
        </p:nvSpPr>
        <p:spPr>
          <a:xfrm>
            <a:off x="723900" y="34099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Motion alone may suggest that its page is quiet.</a:t>
            </a:r>
            <a:endParaRPr lang="en-US" sz="2325"/>
          </a:p>
        </p:txBody>
      </p:sp>
      <p:sp>
        <p:nvSpPr>
          <p:cNvPr id="6" name="Text 6"/>
          <p:cNvSpPr txBox="1"/>
          <p:nvPr/>
        </p:nvSpPr>
        <p:spPr>
          <a:xfrm>
            <a:off x="723900" y="445770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Model feedback can promote the page to a preferred tier.</a:t>
            </a:r>
            <a:endParaRPr lang="en-US" sz="2325"/>
          </a:p>
        </p:txBody>
      </p:sp>
      <p:sp>
        <p:nvSpPr>
          <p:cNvPr id="7" name="Text 7"/>
          <p:cNvSpPr txBox="1"/>
          <p:nvPr/>
        </p:nvSpPr>
        <p:spPr>
          <a:xfrm>
            <a:off x="723900" y="5810250"/>
            <a:ext cx="10668000" cy="400050"/>
          </a:xfrm>
          <a:prstGeom prst="rect">
            <a:avLst/>
          </a:prstGeom>
          <a:noFill/>
          <a:ln>
            <a:noFill/>
          </a:ln>
        </p:spPr>
        <p:txBody>
          <a:bodyPr wrap="square" lIns="0" tIns="0" rIns="0" bIns="0" anchor="t">
            <a:noAutofit/>
          </a:bodyPr>
          <a:lstStyle/>
          <a:p>
            <a:pPr algn="l">
              <a:lnSpc>
                <a:spcPct val="115000"/>
              </a:lnSpc>
              <a:spcAft>
                <a:spcPts val="0"/>
              </a:spcAft>
              <a:buNone/>
            </a:pPr>
            <a:r>
              <a:rPr lang="en-US" sz="2025" b="0">
                <a:solidFill>
                  <a:srgbClr val="206A87"/>
                </a:solidFill>
                <a:latin typeface="Arial"/>
                <a:ea typeface="Arial"/>
                <a:cs typeface="Arial"/>
              </a:rPr>
              <a:t>This correction favors useful information over maximum savings.</a:t>
            </a:r>
            <a:endParaRPr lang="en-US" sz="2025"/>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Reuse needs more than low motion</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11</a:t>
            </a:r>
            <a:endParaRPr lang="en-US" sz="1350"/>
          </a:p>
        </p:txBody>
      </p:sp>
      <p:sp>
        <p:nvSpPr>
          <p:cNvPr id="4" name="Text 4"/>
          <p:cNvSpPr txBox="1"/>
          <p:nvPr/>
        </p:nvSpPr>
        <p:spPr>
          <a:xfrm>
            <a:off x="723900" y="16573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The page must have reliable quiet history.</a:t>
            </a:r>
            <a:endParaRPr lang="en-US" sz="2550"/>
          </a:p>
        </p:txBody>
      </p:sp>
      <p:sp>
        <p:nvSpPr>
          <p:cNvPr id="5" name="Text 5"/>
          <p:cNvSpPr txBox="1"/>
          <p:nvPr/>
        </p:nvSpPr>
        <p:spPr>
          <a:xfrm>
            <a:off x="723900" y="270510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Its input features must exactly match the previous frame.</a:t>
            </a:r>
            <a:endParaRPr lang="en-US" sz="2550"/>
          </a:p>
        </p:txBody>
      </p:sp>
      <p:sp>
        <p:nvSpPr>
          <p:cNvPr id="6" name="Text 6"/>
          <p:cNvSpPr txBox="1"/>
          <p:nvPr/>
        </p:nvSpPr>
        <p:spPr>
          <a:xfrm>
            <a:off x="723900" y="37528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550" b="0">
                <a:solidFill>
                  <a:srgbClr val="18334A"/>
                </a:solidFill>
                <a:latin typeface="Arial"/>
                <a:ea typeface="Arial"/>
                <a:cs typeface="Arial"/>
              </a:rPr>
              <a:t>The current frame must have a valid ready mapping.</a:t>
            </a:r>
            <a:endParaRPr lang="en-US" sz="2550"/>
          </a:p>
        </p:txBody>
      </p:sp>
      <p:sp>
        <p:nvSpPr>
          <p:cNvPr id="7" name="Text 7"/>
          <p:cNvSpPr txBox="1"/>
          <p:nvPr/>
        </p:nvSpPr>
        <p:spPr>
          <a:xfrm>
            <a:off x="723900" y="5143500"/>
            <a:ext cx="10668000" cy="704850"/>
          </a:xfrm>
          <a:prstGeom prst="rect">
            <a:avLst/>
          </a:prstGeom>
          <a:noFill/>
          <a:ln>
            <a:noFill/>
          </a:ln>
        </p:spPr>
        <p:txBody>
          <a:bodyPr wrap="square" lIns="0" tIns="0" rIns="0" bIns="0" anchor="t">
            <a:noAutofit/>
          </a:bodyPr>
          <a:lstStyle/>
          <a:p>
            <a:pPr algn="l">
              <a:lnSpc>
                <a:spcPct val="115000"/>
              </a:lnSpc>
              <a:spcAft>
                <a:spcPts val="0"/>
              </a:spcAft>
              <a:buNone/>
            </a:pPr>
            <a:r>
              <a:rPr lang="en-US" sz="2850" b="1">
                <a:solidFill>
                  <a:srgbClr val="206A87"/>
                </a:solidFill>
                <a:latin typeface="Arial"/>
                <a:ea typeface="Arial"/>
                <a:cs typeface="Arial"/>
              </a:rPr>
              <a:t>If a check fails, we recompute K and V.</a:t>
            </a:r>
            <a:endParaRPr lang="en-US" sz="285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The demonstration dashboard</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12</a:t>
            </a:r>
            <a:endParaRPr lang="en-US" sz="1350"/>
          </a:p>
        </p:txBody>
      </p:sp>
      <p:pic>
        <p:nvPicPr>
          <p:cNvPr id="4" name="prototype-video-and-pages"/>
          <p:cNvPicPr>
            <a:picLocks noChangeAspect="1"/>
          </p:cNvPicPr>
          <p:nvPr/>
        </p:nvPicPr>
        <p:blipFill>
          <a:blip r:embed="rId2"/>
          <a:stretch>
            <a:fillRect/>
          </a:stretch>
        </p:blipFill>
        <p:spPr>
          <a:xfrm>
            <a:off x="2095500" y="1476375"/>
            <a:ext cx="8001000" cy="4500562"/>
          </a:xfrm>
          <a:prstGeom prst="rect">
            <a:avLst/>
          </a:prstGeom>
        </p:spPr>
      </p:pic>
      <p:sp>
        <p:nvSpPr>
          <p:cNvPr id="5" name="Text 5"/>
          <p:cNvSpPr txBox="1"/>
          <p:nvPr/>
        </p:nvSpPr>
        <p:spPr>
          <a:xfrm>
            <a:off x="723900" y="6096000"/>
            <a:ext cx="10668000" cy="361950"/>
          </a:xfrm>
          <a:prstGeom prst="rect">
            <a:avLst/>
          </a:prstGeom>
          <a:noFill/>
          <a:ln>
            <a:noFill/>
          </a:ln>
        </p:spPr>
        <p:txBody>
          <a:bodyPr wrap="square" lIns="0" tIns="0" rIns="0" bIns="0" anchor="t">
            <a:noAutofit/>
          </a:bodyPr>
          <a:lstStyle/>
          <a:p>
            <a:pPr algn="l">
              <a:lnSpc>
                <a:spcPct val="115000"/>
              </a:lnSpc>
              <a:spcAft>
                <a:spcPts val="0"/>
              </a:spcAft>
              <a:buNone/>
            </a:pPr>
            <a:r>
              <a:rPr lang="en-US" sz="1875" b="0">
                <a:solidFill>
                  <a:srgbClr val="18334A"/>
                </a:solidFill>
                <a:latin typeface="Arial"/>
                <a:ea typeface="Arial"/>
                <a:cs typeface="Arial"/>
              </a:rPr>
              <a:t>Recorded interface: the video and mapping show the same processed frame.</a:t>
            </a:r>
            <a:endParaRPr lang="en-US" sz="1875"/>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Measured reconciliation performance</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13</a:t>
            </a:r>
            <a:endParaRPr lang="en-US" sz="1350"/>
          </a:p>
        </p:txBody>
      </p:sp>
      <p:graphicFrame>
        <p:nvGraphicFramePr>
          <p:cNvPr id="4" name="Measured frame time"/>
          <p:cNvGraphicFramePr/>
          <p:nvPr/>
        </p:nvGraphicFramePr>
        <p:xfrm>
          <a:off x="666750" y="1543050"/>
          <a:ext cx="7000875" cy="3771900"/>
        </p:xfrm>
        <a:graphic>
          <a:graphicData uri="http://schemas.openxmlformats.org/drawingml/2006/chart">
            <c:chart xmlns:c="http://schemas.openxmlformats.org/drawingml/2006/chart" r:id="rId2"/>
          </a:graphicData>
        </a:graphic>
      </p:graphicFrame>
      <p:sp>
        <p:nvSpPr>
          <p:cNvPr id="5" name="Text 5"/>
          <p:cNvSpPr txBox="1"/>
          <p:nvPr/>
        </p:nvSpPr>
        <p:spPr>
          <a:xfrm>
            <a:off x="8143875" y="2114550"/>
            <a:ext cx="3238500" cy="857250"/>
          </a:xfrm>
          <a:prstGeom prst="rect">
            <a:avLst/>
          </a:prstGeom>
          <a:noFill/>
          <a:ln>
            <a:noFill/>
          </a:ln>
        </p:spPr>
        <p:txBody>
          <a:bodyPr wrap="square" lIns="0" tIns="0" rIns="0" bIns="0" anchor="t">
            <a:noAutofit/>
          </a:bodyPr>
          <a:lstStyle/>
          <a:p>
            <a:pPr algn="l">
              <a:lnSpc>
                <a:spcPct val="115000"/>
              </a:lnSpc>
              <a:spcAft>
                <a:spcPts val="0"/>
              </a:spcAft>
              <a:buNone/>
            </a:pPr>
            <a:r>
              <a:rPr lang="en-US" sz="4950" b="1">
                <a:solidFill>
                  <a:srgbClr val="206A87"/>
                </a:solidFill>
                <a:latin typeface="Arial"/>
                <a:ea typeface="Arial"/>
                <a:cs typeface="Arial"/>
              </a:rPr>
              <a:t>52.34%</a:t>
            </a:r>
            <a:endParaRPr lang="en-US" sz="4950"/>
          </a:p>
        </p:txBody>
      </p:sp>
      <p:sp>
        <p:nvSpPr>
          <p:cNvPr id="6" name="Text 6"/>
          <p:cNvSpPr txBox="1"/>
          <p:nvPr/>
        </p:nvSpPr>
        <p:spPr>
          <a:xfrm>
            <a:off x="8143875" y="3190875"/>
            <a:ext cx="3333750" cy="1352550"/>
          </a:xfrm>
          <a:prstGeom prst="rect">
            <a:avLst/>
          </a:prstGeom>
          <a:noFill/>
          <a:ln>
            <a:noFill/>
          </a:ln>
        </p:spPr>
        <p:txBody>
          <a:bodyPr wrap="square" lIns="0" tIns="0" rIns="0" bIns="0" anchor="t">
            <a:noAutofit/>
          </a:bodyPr>
          <a:lstStyle/>
          <a:p>
            <a:pPr algn="l">
              <a:lnSpc>
                <a:spcPct val="115000"/>
              </a:lnSpc>
              <a:spcAft>
                <a:spcPts val="0"/>
              </a:spcAft>
              <a:buNone/>
            </a:pPr>
            <a:r>
              <a:rPr lang="en-US" sz="2175" b="0">
                <a:solidFill>
                  <a:srgbClr val="18334A"/>
                </a:solidFill>
                <a:latin typeface="Arial"/>
                <a:ea typeface="Arial"/>
                <a:cs typeface="Arial"/>
              </a:rPr>
              <a:t>lower median mean</a:t>
            </a:r>
            <a:endParaRPr lang="en-US" sz="2175"/>
          </a:p>
          <a:p>
            <a:pPr algn="l">
              <a:lnSpc>
                <a:spcPct val="115000"/>
              </a:lnSpc>
              <a:spcAft>
                <a:spcPts val="0"/>
              </a:spcAft>
              <a:buNone/>
            </a:pPr>
            <a:r>
              <a:rPr lang="en-US" sz="2175" b="0">
                <a:solidFill>
                  <a:srgbClr val="18334A"/>
                </a:solidFill>
                <a:latin typeface="Arial"/>
                <a:ea typeface="Arial"/>
                <a:cs typeface="Arial"/>
              </a:rPr>
              <a:t>frame time in the</a:t>
            </a:r>
            <a:endParaRPr lang="en-US" sz="2175"/>
          </a:p>
          <a:p>
            <a:pPr algn="l">
              <a:lnSpc>
                <a:spcPct val="115000"/>
              </a:lnSpc>
              <a:spcAft>
                <a:spcPts val="0"/>
              </a:spcAft>
              <a:buNone/>
            </a:pPr>
            <a:r>
              <a:rPr lang="en-US" sz="2175" b="0">
                <a:solidFill>
                  <a:srgbClr val="18334A"/>
                </a:solidFill>
                <a:latin typeface="Arial"/>
                <a:ea typeface="Arial"/>
                <a:cs typeface="Arial"/>
              </a:rPr>
              <a:t>paired CPU comparison</a:t>
            </a:r>
            <a:endParaRPr lang="en-US" sz="2175"/>
          </a:p>
        </p:txBody>
      </p:sp>
      <p:sp>
        <p:nvSpPr>
          <p:cNvPr id="7" name="Text 7"/>
          <p:cNvSpPr txBox="1"/>
          <p:nvPr/>
        </p:nvSpPr>
        <p:spPr>
          <a:xfrm>
            <a:off x="723900" y="5572125"/>
            <a:ext cx="10668000" cy="428625"/>
          </a:xfrm>
          <a:prstGeom prst="rect">
            <a:avLst/>
          </a:prstGeom>
          <a:noFill/>
          <a:ln>
            <a:noFill/>
          </a:ln>
        </p:spPr>
        <p:txBody>
          <a:bodyPr wrap="square" lIns="0" tIns="0" rIns="0" bIns="0" anchor="t">
            <a:noAutofit/>
          </a:bodyPr>
          <a:lstStyle/>
          <a:p>
            <a:pPr algn="l">
              <a:lnSpc>
                <a:spcPct val="115000"/>
              </a:lnSpc>
              <a:spcAft>
                <a:spcPts val="0"/>
              </a:spcAft>
              <a:buNone/>
            </a:pPr>
            <a:r>
              <a:rPr lang="en-US" sz="2175" b="1">
                <a:solidFill>
                  <a:srgbClr val="18334A"/>
                </a:solidFill>
                <a:latin typeface="Arial"/>
                <a:ea typeface="Arial"/>
                <a:cs typeface="Arial"/>
              </a:rPr>
              <a:t>Oracle: 55.570 ms. Indexed: 26.484 ms.</a:t>
            </a:r>
            <a:endParaRPr lang="en-US" sz="2175"/>
          </a:p>
        </p:txBody>
      </p:sp>
      <p:sp>
        <p:nvSpPr>
          <p:cNvPr id="8" name="Text 8"/>
          <p:cNvSpPr txBox="1"/>
          <p:nvPr/>
        </p:nvSpPr>
        <p:spPr>
          <a:xfrm>
            <a:off x="723900" y="6134100"/>
            <a:ext cx="10668000" cy="285750"/>
          </a:xfrm>
          <a:prstGeom prst="rect">
            <a:avLst/>
          </a:prstGeom>
          <a:noFill/>
          <a:ln>
            <a:noFill/>
          </a:ln>
        </p:spPr>
        <p:txBody>
          <a:bodyPr wrap="square" lIns="0" tIns="0" rIns="0" bIns="0" anchor="t">
            <a:noAutofit/>
          </a:bodyPr>
          <a:lstStyle/>
          <a:p>
            <a:pPr algn="l">
              <a:lnSpc>
                <a:spcPct val="115000"/>
              </a:lnSpc>
              <a:spcAft>
                <a:spcPts val="0"/>
              </a:spcAft>
              <a:buNone/>
            </a:pPr>
            <a:r>
              <a:rPr lang="en-US" sz="1575" b="0">
                <a:solidFill>
                  <a:srgbClr val="52606D"/>
                </a:solidFill>
                <a:latin typeface="Arial"/>
                <a:ea typeface="Arial"/>
                <a:cs typeface="Arial"/>
              </a:rPr>
              <a:t>This compares reconciliation paths. It does not establish overall ViT speedup.</a:t>
            </a:r>
            <a:endParaRPr lang="en-US" sz="1575"/>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Reuse depends on the video content</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14</a:t>
            </a:r>
            <a:endParaRPr lang="en-US" sz="1350"/>
          </a:p>
        </p:txBody>
      </p:sp>
      <p:graphicFrame>
        <p:nvGraphicFramePr>
          <p:cNvPr id="4" name="Table 4"/>
          <p:cNvGraphicFramePr/>
          <p:nvPr/>
        </p:nvGraphicFramePr>
        <p:xfrm>
          <a:off x="723900" y="1676400"/>
          <a:ext cx="10668000" cy="3886200"/>
        </p:xfrm>
        <a:graphic>
          <a:graphicData uri="http://schemas.openxmlformats.org/drawingml/2006/main/table">
            <a:tbl>
              <a:tblPr firstRow="1" bandRow="0"/>
              <a:tblGrid>
                <a:gridCol w="4429125"/>
                <a:gridCol w="2952750"/>
                <a:gridCol w="3286125"/>
              </a:tblGrid>
              <a:tr h="971550">
                <a:tc>
                  <a:txBody>
                    <a:bodyPr wrap="square" lIns="0" tIns="0" rIns="0" bIns="0"/>
                    <a:lstStyle/>
                    <a:p>
                      <a:pPr algn="l">
                        <a:lnSpc>
                          <a:spcPct val="115000"/>
                        </a:lnSpc>
                        <a:spcAft>
                          <a:spcPts val="0"/>
                        </a:spcAft>
                        <a:buNone/>
                      </a:pPr>
                      <a:r>
                        <a:rPr lang="en-US" sz="2025" b="1">
                          <a:solidFill>
                            <a:srgbClr val="FFFFFF"/>
                          </a:solidFill>
                          <a:latin typeface="Arial"/>
                          <a:ea typeface="Arial"/>
                          <a:cs typeface="Arial"/>
                        </a:rPr>
                        <a:t>Measurement</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2025" b="1">
                          <a:solidFill>
                            <a:srgbClr val="FFFFFF"/>
                          </a:solidFill>
                          <a:latin typeface="Arial"/>
                          <a:ea typeface="Arial"/>
                          <a:cs typeface="Arial"/>
                        </a:rPr>
                        <a:t>Generated clip</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2025" b="1">
                          <a:solidFill>
                            <a:srgbClr val="FFFFFF"/>
                          </a:solidFill>
                          <a:latin typeface="Arial"/>
                          <a:ea typeface="Arial"/>
                          <a:cs typeface="Arial"/>
                        </a:rPr>
                        <a:t>Natural H.264 clip</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r>
              <a:tr h="9715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Compared frames</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216</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171</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9715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Pages reused</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862</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0</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r h="971550">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Agreement with</a:t>
                      </a:r>
                      <a:endParaRPr lang="en-US" sz="2025"/>
                    </a:p>
                    <a:p>
                      <a:pPr algn="l">
                        <a:lnSpc>
                          <a:spcPct val="115000"/>
                        </a:lnSpc>
                        <a:spcAft>
                          <a:spcPts val="0"/>
                        </a:spcAft>
                        <a:buNone/>
                      </a:pPr>
                      <a:r>
                        <a:rPr lang="en-US" sz="2025" b="0">
                          <a:solidFill>
                            <a:srgbClr val="18334A"/>
                          </a:solidFill>
                          <a:latin typeface="Arial"/>
                          <a:ea typeface="Arial"/>
                          <a:cs typeface="Arial"/>
                        </a:rPr>
                        <a:t>standard ViT</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216 of 216</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2025" b="0">
                          <a:solidFill>
                            <a:srgbClr val="18334A"/>
                          </a:solidFill>
                          <a:latin typeface="Arial"/>
                          <a:ea typeface="Arial"/>
                          <a:cs typeface="Arial"/>
                        </a:rPr>
                        <a:t>170 of 171</a:t>
                      </a:r>
                      <a:endParaRPr lang="en-US" sz="202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bl>
          </a:graphicData>
        </a:graphic>
      </p:graphicFrame>
      <p:sp>
        <p:nvSpPr>
          <p:cNvPr id="5" name="Text 5"/>
          <p:cNvSpPr txBox="1"/>
          <p:nvPr/>
        </p:nvSpPr>
        <p:spPr>
          <a:xfrm>
            <a:off x="723900" y="5848350"/>
            <a:ext cx="10668000" cy="409575"/>
          </a:xfrm>
          <a:prstGeom prst="rect">
            <a:avLst/>
          </a:prstGeom>
          <a:noFill/>
          <a:ln>
            <a:noFill/>
          </a:ln>
        </p:spPr>
        <p:txBody>
          <a:bodyPr wrap="square" lIns="0" tIns="0" rIns="0" bIns="0" anchor="t">
            <a:noAutofit/>
          </a:bodyPr>
          <a:lstStyle/>
          <a:p>
            <a:pPr algn="l">
              <a:lnSpc>
                <a:spcPct val="115000"/>
              </a:lnSpc>
              <a:spcAft>
                <a:spcPts val="0"/>
              </a:spcAft>
              <a:buNone/>
            </a:pPr>
            <a:r>
              <a:rPr lang="en-US" sz="2250" b="1">
                <a:solidFill>
                  <a:srgbClr val="206A87"/>
                </a:solidFill>
                <a:latin typeface="Arial"/>
                <a:ea typeface="Arial"/>
                <a:cs typeface="Arial"/>
              </a:rPr>
              <a:t>Zero reuse is valid when input features keep changing.</a:t>
            </a:r>
            <a:endParaRPr lang="en-US" sz="225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Conclusion and next steps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15</a:t>
            </a:r>
            <a:endParaRPr lang="en-US" sz="1350"/>
          </a:p>
        </p:txBody>
      </p:sp>
      <p:sp>
        <p:nvSpPr>
          <p:cNvPr id="4" name="Text 4"/>
          <p:cNvSpPr txBox="1"/>
          <p:nvPr/>
        </p:nvSpPr>
        <p:spPr>
          <a:xfrm>
            <a:off x="723900" y="1657350"/>
            <a:ext cx="10668000" cy="1238250"/>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MTR-KV connects video motion</a:t>
            </a:r>
            <a:endParaRPr lang="en-US" sz="3450"/>
          </a:p>
          <a:p>
            <a:pPr algn="l">
              <a:lnSpc>
                <a:spcPct val="115000"/>
              </a:lnSpc>
              <a:spcAft>
                <a:spcPts val="0"/>
              </a:spcAft>
              <a:buNone/>
            </a:pPr>
            <a:r>
              <a:rPr lang="en-US" sz="3450" b="1">
                <a:solidFill>
                  <a:srgbClr val="18334A"/>
                </a:solidFill>
                <a:latin typeface="Arial"/>
                <a:ea typeface="Arial"/>
                <a:cs typeface="Arial"/>
              </a:rPr>
              <a:t>to safe attention data storage.</a:t>
            </a:r>
            <a:endParaRPr lang="en-US" sz="3450"/>
          </a:p>
        </p:txBody>
      </p:sp>
      <p:sp>
        <p:nvSpPr>
          <p:cNvPr id="5" name="Text 5"/>
          <p:cNvSpPr txBox="1"/>
          <p:nvPr/>
        </p:nvSpPr>
        <p:spPr>
          <a:xfrm>
            <a:off x="723900" y="3371850"/>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The current prototype changes one final ViT-Tiny attention block.</a:t>
            </a:r>
            <a:endParaRPr lang="en-US" sz="2325"/>
          </a:p>
        </p:txBody>
      </p:sp>
      <p:sp>
        <p:nvSpPr>
          <p:cNvPr id="6" name="Text 6"/>
          <p:cNvSpPr txBox="1"/>
          <p:nvPr/>
        </p:nvSpPr>
        <p:spPr>
          <a:xfrm>
            <a:off x="723900" y="4429125"/>
            <a:ext cx="10668000" cy="876300"/>
          </a:xfrm>
          <a:prstGeom prst="rect">
            <a:avLst/>
          </a:prstGeom>
          <a:noFill/>
          <a:ln>
            <a:noFill/>
          </a:ln>
        </p:spPr>
        <p:txBody>
          <a:bodyPr wrap="square" lIns="0" tIns="0" rIns="0" bIns="0" anchor="t">
            <a:noAutofit/>
          </a:bodyPr>
          <a:lstStyle/>
          <a:p>
            <a:pPr algn="l">
              <a:lnSpc>
                <a:spcPct val="115000"/>
              </a:lnSpc>
              <a:spcAft>
                <a:spcPts val="0"/>
              </a:spcAft>
              <a:buNone/>
            </a:pPr>
            <a:r>
              <a:rPr lang="en-US" sz="2325" b="0">
                <a:solidFill>
                  <a:srgbClr val="18334A"/>
                </a:solidFill>
                <a:latin typeface="Arial"/>
                <a:ea typeface="Arial"/>
                <a:cs typeface="Arial"/>
              </a:rPr>
              <a:t>The next step is broader video testing and task quality evaluation.</a:t>
            </a:r>
            <a:endParaRPr lang="en-US" sz="2325"/>
          </a:p>
        </p:txBody>
      </p:sp>
      <p:sp>
        <p:nvSpPr>
          <p:cNvPr id="7" name="Text 7"/>
          <p:cNvSpPr txBox="1"/>
          <p:nvPr/>
        </p:nvSpPr>
        <p:spPr>
          <a:xfrm>
            <a:off x="723900" y="5800725"/>
            <a:ext cx="10668000" cy="428625"/>
          </a:xfrm>
          <a:prstGeom prst="rect">
            <a:avLst/>
          </a:prstGeom>
          <a:noFill/>
          <a:ln>
            <a:noFill/>
          </a:ln>
        </p:spPr>
        <p:txBody>
          <a:bodyPr wrap="square" lIns="0" tIns="0" rIns="0" bIns="0" anchor="t">
            <a:noAutofit/>
          </a:bodyPr>
          <a:lstStyle/>
          <a:p>
            <a:pPr algn="l">
              <a:lnSpc>
                <a:spcPct val="115000"/>
              </a:lnSpc>
              <a:spcAft>
                <a:spcPts val="0"/>
              </a:spcAft>
              <a:buNone/>
            </a:pPr>
            <a:r>
              <a:rPr lang="en-US" sz="2100" b="0">
                <a:solidFill>
                  <a:srgbClr val="206A87"/>
                </a:solidFill>
                <a:latin typeface="Arial"/>
                <a:ea typeface="Arial"/>
                <a:cs typeface="Arial"/>
              </a:rPr>
              <a:t>The repository records 128 passed tests.</a:t>
            </a:r>
            <a:endParaRPr lang="en-US" sz="2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Viva support  Key concepts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16</a:t>
            </a:r>
            <a:endParaRPr lang="en-US" sz="1350"/>
          </a:p>
        </p:txBody>
      </p:sp>
      <p:graphicFrame>
        <p:nvGraphicFramePr>
          <p:cNvPr id="4" name="Table 4"/>
          <p:cNvGraphicFramePr/>
          <p:nvPr/>
        </p:nvGraphicFramePr>
        <p:xfrm>
          <a:off x="723900" y="1619250"/>
          <a:ext cx="10668000" cy="4191000"/>
        </p:xfrm>
        <a:graphic>
          <a:graphicData uri="http://schemas.openxmlformats.org/drawingml/2006/main/table">
            <a:tbl>
              <a:tblPr firstRow="1" bandRow="0"/>
              <a:tblGrid>
                <a:gridCol w="3810000"/>
                <a:gridCol w="6858000"/>
              </a:tblGrid>
              <a:tr h="838200">
                <a:tc>
                  <a:txBody>
                    <a:bodyPr wrap="square" lIns="0" tIns="0" rIns="0" bIns="0"/>
                    <a:lstStyle/>
                    <a:p>
                      <a:pPr algn="l">
                        <a:lnSpc>
                          <a:spcPct val="115000"/>
                        </a:lnSpc>
                        <a:spcAft>
                          <a:spcPts val="0"/>
                        </a:spcAft>
                        <a:buNone/>
                      </a:pPr>
                      <a:r>
                        <a:rPr lang="en-US" sz="1950" b="1">
                          <a:solidFill>
                            <a:srgbClr val="FFFFFF"/>
                          </a:solidFill>
                          <a:latin typeface="Arial"/>
                          <a:ea typeface="Arial"/>
                          <a:cs typeface="Arial"/>
                        </a:rPr>
                        <a:t>Question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1950" b="1">
                          <a:solidFill>
                            <a:srgbClr val="FFFFFF"/>
                          </a:solidFill>
                          <a:latin typeface="Arial"/>
                          <a:ea typeface="Arial"/>
                          <a:cs typeface="Arial"/>
                        </a:rPr>
                        <a:t>Short answer</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r>
              <a:tr h="8382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What are K and V?</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They are intermediate features used by attention.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8382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What is a page?</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It is a group of image tokens managed together.</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r h="8382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Why use motion?</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It gives a clue about which content is changing.</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838200">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Did you train a model?</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950" b="0">
                          <a:solidFill>
                            <a:srgbClr val="18334A"/>
                          </a:solidFill>
                          <a:latin typeface="Arial"/>
                          <a:ea typeface="Arial"/>
                          <a:cs typeface="Arial"/>
                        </a:rPr>
                        <a:t>We use a pretrained ViT-Tiny classifier.</a:t>
                      </a:r>
                      <a:endParaRPr lang="en-US" sz="1950"/>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Viva support  Results and safety</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17</a:t>
            </a:r>
            <a:endParaRPr lang="en-US" sz="1350"/>
          </a:p>
        </p:txBody>
      </p:sp>
      <p:graphicFrame>
        <p:nvGraphicFramePr>
          <p:cNvPr id="4" name="Table 4"/>
          <p:cNvGraphicFramePr/>
          <p:nvPr/>
        </p:nvGraphicFramePr>
        <p:xfrm>
          <a:off x="723900" y="1619250"/>
          <a:ext cx="10668000" cy="4762500"/>
        </p:xfrm>
        <a:graphic>
          <a:graphicData uri="http://schemas.openxmlformats.org/drawingml/2006/main/table">
            <a:tbl>
              <a:tblPr firstRow="1" bandRow="0"/>
              <a:tblGrid>
                <a:gridCol w="4619625"/>
                <a:gridCol w="6048375"/>
              </a:tblGrid>
              <a:tr h="952500">
                <a:tc>
                  <a:txBody>
                    <a:bodyPr wrap="square" lIns="0" tIns="0" rIns="0" bIns="0"/>
                    <a:lstStyle/>
                    <a:p>
                      <a:pPr algn="l">
                        <a:lnSpc>
                          <a:spcPct val="115000"/>
                        </a:lnSpc>
                        <a:spcAft>
                          <a:spcPts val="0"/>
                        </a:spcAft>
                        <a:buNone/>
                      </a:pPr>
                      <a:r>
                        <a:rPr lang="en-US" sz="1875" b="1">
                          <a:solidFill>
                            <a:srgbClr val="FFFFFF"/>
                          </a:solidFill>
                          <a:latin typeface="Arial"/>
                          <a:ea typeface="Arial"/>
                          <a:cs typeface="Arial"/>
                        </a:rPr>
                        <a:t>Question</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c>
                  <a:txBody>
                    <a:bodyPr wrap="square" lIns="0" tIns="0" rIns="0" bIns="0"/>
                    <a:lstStyle/>
                    <a:p>
                      <a:pPr algn="l">
                        <a:lnSpc>
                          <a:spcPct val="115000"/>
                        </a:lnSpc>
                        <a:spcAft>
                          <a:spcPts val="0"/>
                        </a:spcAft>
                        <a:buNone/>
                      </a:pPr>
                      <a:r>
                        <a:rPr lang="en-US" sz="1875" b="1">
                          <a:solidFill>
                            <a:srgbClr val="FFFFFF"/>
                          </a:solidFill>
                          <a:latin typeface="Arial"/>
                          <a:ea typeface="Arial"/>
                          <a:cs typeface="Arial"/>
                        </a:rPr>
                        <a:t>Short answer</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18334A"/>
                    </a:solidFill>
                  </a:tcPr>
                </a:tc>
              </a:tr>
              <a:tr h="952500">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Why can natural video show zero reuse?</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Exact input features may change every frame.</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952500">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How do you avoid stale data?</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We allow reads only from the matching ready generation.</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r h="952500">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Is the complete model twice as fast?</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We measured an improvement between reconciliation paths.</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EDF2F5"/>
                    </a:solidFill>
                  </a:tcPr>
                </a:tc>
              </a:tr>
              <a:tr h="952500">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Does agreement prove task accuracy?</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c>
                  <a:txBody>
                    <a:bodyPr wrap="square" lIns="0" tIns="0" rIns="0" bIns="0"/>
                    <a:lstStyle/>
                    <a:p>
                      <a:pPr algn="l">
                        <a:lnSpc>
                          <a:spcPct val="115000"/>
                        </a:lnSpc>
                        <a:spcAft>
                          <a:spcPts val="0"/>
                        </a:spcAft>
                        <a:buNone/>
                      </a:pPr>
                      <a:r>
                        <a:rPr lang="en-US" sz="1875" b="0">
                          <a:solidFill>
                            <a:srgbClr val="18334A"/>
                          </a:solidFill>
                          <a:latin typeface="Arial"/>
                          <a:ea typeface="Arial"/>
                          <a:cs typeface="Arial"/>
                        </a:rPr>
                        <a:t>Agreement measures consistency with standard ViT.</a:t>
                      </a:r>
                      <a:endParaRPr lang="en-US" sz="1875"/>
                    </a:p>
                  </a:txBody>
                  <a:tcPr marL="142875" marR="142875" marT="133350" marB="95250" anchor="ctr">
                    <a:lnL w="6350">
                      <a:solidFill>
                        <a:srgbClr val="D6DEE5"/>
                      </a:solidFill>
                      <a:prstDash val="solid"/>
                    </a:lnL>
                    <a:lnR w="6350">
                      <a:solidFill>
                        <a:srgbClr val="D6DEE5"/>
                      </a:solidFill>
                      <a:prstDash val="solid"/>
                    </a:lnR>
                    <a:lnT w="6350">
                      <a:solidFill>
                        <a:srgbClr val="D6DEE5"/>
                      </a:solidFill>
                      <a:prstDash val="solid"/>
                    </a:lnT>
                    <a:lnB w="6350">
                      <a:solidFill>
                        <a:srgbClr val="D6DEE5"/>
                      </a:solidFill>
                      <a:prstDash val="solid"/>
                    </a:lnB>
                    <a:solidFill>
                      <a:srgbClr val="FFFFFF"/>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514350"/>
            <a:ext cx="10820400" cy="714375"/>
          </a:xfrm>
          <a:prstGeom prst="rect">
            <a:avLst/>
          </a:prstGeom>
          <a:noFill/>
          <a:ln>
            <a:noFill/>
          </a:ln>
        </p:spPr>
        <p:txBody>
          <a:bodyPr wrap="square" lIns="0" tIns="0" rIns="0" bIns="0" anchor="t">
            <a:noAutofit/>
          </a:bodyPr>
          <a:lstStyle/>
          <a:p>
            <a:pPr algn="l">
              <a:lnSpc>
                <a:spcPct val="115000"/>
              </a:lnSpc>
              <a:spcAft>
                <a:spcPts val="0"/>
              </a:spcAft>
              <a:buNone/>
            </a:pPr>
            <a:r>
              <a:rPr lang="en-US" sz="3450" b="1">
                <a:solidFill>
                  <a:srgbClr val="18334A"/>
                </a:solidFill>
                <a:latin typeface="Arial"/>
                <a:ea typeface="Arial"/>
                <a:cs typeface="Arial"/>
              </a:rPr>
              <a:t>Sources</a:t>
            </a:r>
            <a:endParaRPr lang="en-US" sz="3450"/>
          </a:p>
        </p:txBody>
      </p:sp>
      <p:sp>
        <p:nvSpPr>
          <p:cNvPr id="3" name="Text 3"/>
          <p:cNvSpPr txBox="1"/>
          <p:nvPr/>
        </p:nvSpPr>
        <p:spPr>
          <a:xfrm>
            <a:off x="11239500" y="6381750"/>
            <a:ext cx="381000" cy="228600"/>
          </a:xfrm>
          <a:prstGeom prst="rect">
            <a:avLst/>
          </a:prstGeom>
          <a:noFill/>
          <a:ln>
            <a:noFill/>
          </a:ln>
        </p:spPr>
        <p:txBody>
          <a:bodyPr wrap="square" lIns="0" tIns="0" rIns="0" bIns="0" anchor="t">
            <a:noAutofit/>
          </a:bodyPr>
          <a:lstStyle/>
          <a:p>
            <a:pPr algn="l">
              <a:lnSpc>
                <a:spcPct val="115000"/>
              </a:lnSpc>
              <a:spcAft>
                <a:spcPts val="0"/>
              </a:spcAft>
              <a:buNone/>
            </a:pPr>
            <a:r>
              <a:rPr lang="en-US" sz="1350" b="0">
                <a:solidFill>
                  <a:srgbClr val="52606D"/>
                </a:solidFill>
                <a:latin typeface="Arial"/>
                <a:ea typeface="Arial"/>
                <a:cs typeface="Arial"/>
              </a:rPr>
              <a:t>18</a:t>
            </a:r>
            <a:endParaRPr lang="en-US" sz="1350"/>
          </a:p>
        </p:txBody>
      </p:sp>
      <p:sp>
        <p:nvSpPr>
          <p:cNvPr id="4" name="Text 4"/>
          <p:cNvSpPr txBox="1"/>
          <p:nvPr/>
        </p:nvSpPr>
        <p:spPr>
          <a:xfrm>
            <a:off x="723900" y="1619250"/>
            <a:ext cx="10668000" cy="428625"/>
          </a:xfrm>
          <a:prstGeom prst="rect">
            <a:avLst/>
          </a:prstGeom>
          <a:noFill/>
          <a:ln>
            <a:noFill/>
          </a:ln>
        </p:spPr>
        <p:txBody>
          <a:bodyPr wrap="square" lIns="0" tIns="0" rIns="0" bIns="0" anchor="t">
            <a:noAutofit/>
          </a:bodyPr>
          <a:lstStyle/>
          <a:p>
            <a:pPr algn="l">
              <a:lnSpc>
                <a:spcPct val="115000"/>
              </a:lnSpc>
              <a:spcAft>
                <a:spcPts val="0"/>
              </a:spcAft>
              <a:buNone/>
            </a:pPr>
            <a:r>
              <a:rPr lang="en-US" sz="2325" b="1">
                <a:solidFill>
                  <a:srgbClr val="18334A"/>
                </a:solidFill>
                <a:latin typeface="Arial"/>
                <a:ea typeface="Arial"/>
                <a:cs typeface="Arial"/>
              </a:rPr>
              <a:t>Project implementation and walkthrough</a:t>
            </a:r>
            <a:endParaRPr lang="en-US" sz="2325"/>
          </a:p>
        </p:txBody>
      </p:sp>
      <p:sp>
        <p:nvSpPr>
          <p:cNvPr id="5" name="Text 5"/>
          <p:cNvSpPr txBox="1"/>
          <p:nvPr/>
        </p:nvSpPr>
        <p:spPr>
          <a:xfrm>
            <a:off x="723900" y="2152650"/>
            <a:ext cx="10668000" cy="438150"/>
          </a:xfrm>
          <a:prstGeom prst="rect">
            <a:avLst/>
          </a:prstGeom>
          <a:noFill/>
          <a:ln>
            <a:noFill/>
          </a:ln>
        </p:spPr>
        <p:txBody>
          <a:bodyPr wrap="square" lIns="0" tIns="0" rIns="0" bIns="0" anchor="t">
            <a:noAutofit/>
          </a:bodyPr>
          <a:lstStyle/>
          <a:p>
            <a:pPr algn="l">
              <a:lnSpc>
                <a:spcPct val="115000"/>
              </a:lnSpc>
              <a:spcAft>
                <a:spcPts val="0"/>
              </a:spcAft>
              <a:buNone/>
            </a:pPr>
            <a:r>
              <a:rPr lang="en-US" sz="2025" b="0">
                <a:solidFill>
                  <a:srgbClr val="18334A"/>
                </a:solidFill>
                <a:latin typeface="Arial"/>
                <a:ea typeface="Arial"/>
                <a:cs typeface="Arial"/>
              </a:rPr>
              <a:t>README.md, docs/DEMO.md and docs/KV_REUSE.md</a:t>
            </a:r>
            <a:endParaRPr lang="en-US" sz="2025"/>
          </a:p>
        </p:txBody>
      </p:sp>
      <p:sp>
        <p:nvSpPr>
          <p:cNvPr id="6" name="Text 6"/>
          <p:cNvSpPr txBox="1"/>
          <p:nvPr/>
        </p:nvSpPr>
        <p:spPr>
          <a:xfrm>
            <a:off x="723900" y="2905125"/>
            <a:ext cx="10668000" cy="428625"/>
          </a:xfrm>
          <a:prstGeom prst="rect">
            <a:avLst/>
          </a:prstGeom>
          <a:noFill/>
          <a:ln>
            <a:noFill/>
          </a:ln>
        </p:spPr>
        <p:txBody>
          <a:bodyPr wrap="square" lIns="0" tIns="0" rIns="0" bIns="0" anchor="t">
            <a:noAutofit/>
          </a:bodyPr>
          <a:lstStyle/>
          <a:p>
            <a:pPr algn="l">
              <a:lnSpc>
                <a:spcPct val="115000"/>
              </a:lnSpc>
              <a:spcAft>
                <a:spcPts val="0"/>
              </a:spcAft>
              <a:buNone/>
            </a:pPr>
            <a:r>
              <a:rPr lang="en-US" sz="2325" b="1">
                <a:solidFill>
                  <a:srgbClr val="18334A"/>
                </a:solidFill>
                <a:latin typeface="Arial"/>
                <a:ea typeface="Arial"/>
                <a:cs typeface="Arial"/>
              </a:rPr>
              <a:t>Measurements and verification</a:t>
            </a:r>
            <a:endParaRPr lang="en-US" sz="2325"/>
          </a:p>
        </p:txBody>
      </p:sp>
      <p:sp>
        <p:nvSpPr>
          <p:cNvPr id="7" name="Text 7"/>
          <p:cNvSpPr txBox="1"/>
          <p:nvPr/>
        </p:nvSpPr>
        <p:spPr>
          <a:xfrm>
            <a:off x="723900" y="3438525"/>
            <a:ext cx="10668000" cy="1238250"/>
          </a:xfrm>
          <a:prstGeom prst="rect">
            <a:avLst/>
          </a:prstGeom>
          <a:noFill/>
          <a:ln>
            <a:noFill/>
          </a:ln>
        </p:spPr>
        <p:txBody>
          <a:bodyPr wrap="square" lIns="0" tIns="0" rIns="0" bIns="0" anchor="t">
            <a:noAutofit/>
          </a:bodyPr>
          <a:lstStyle/>
          <a:p>
            <a:pPr algn="l">
              <a:lnSpc>
                <a:spcPct val="115000"/>
              </a:lnSpc>
              <a:spcAft>
                <a:spcPts val="0"/>
              </a:spcAft>
              <a:buNone/>
            </a:pPr>
            <a:r>
              <a:rPr lang="en-US" sz="2025" b="0">
                <a:solidFill>
                  <a:srgbClr val="18334A"/>
                </a:solidFill>
                <a:latin typeface="Arial"/>
                <a:ea typeface="Arial"/>
                <a:cs typeface="Arial"/>
              </a:rPr>
              <a:t>docs/OPTIMIZATION.md and paired-serial/manifest.json</a:t>
            </a:r>
            <a:endParaRPr lang="en-US" sz="2025"/>
          </a:p>
          <a:p>
            <a:pPr algn="l">
              <a:lnSpc>
                <a:spcPct val="115000"/>
              </a:lnSpc>
              <a:spcAft>
                <a:spcPts val="0"/>
              </a:spcAft>
              <a:buNone/>
            </a:pPr>
            <a:r>
              <a:rPr lang="en-US" sz="2025" b="0">
                <a:solidFill>
                  <a:srgbClr val="18334A"/>
                </a:solidFill>
                <a:latin typeface="Arial"/>
                <a:ea typeface="Arial"/>
                <a:cs typeface="Arial"/>
              </a:rPr>
              <a:t>Generated and natural video evaluation JSON files</a:t>
            </a:r>
            <a:endParaRPr lang="en-US" sz="2025"/>
          </a:p>
          <a:p>
            <a:pPr algn="l">
              <a:lnSpc>
                <a:spcPct val="115000"/>
              </a:lnSpc>
              <a:spcAft>
                <a:spcPts val="0"/>
              </a:spcAft>
              <a:buNone/>
            </a:pPr>
            <a:r>
              <a:rPr lang="en-US" sz="2025" b="0">
                <a:solidFill>
                  <a:srgbClr val="18334A"/>
                </a:solidFill>
                <a:latin typeface="Arial"/>
                <a:ea typeface="Arial"/>
                <a:cs typeface="Arial"/>
              </a:rPr>
              <a:t>results/optimization-20261021/test-results.txt</a:t>
            </a:r>
            <a:endParaRPr lang="en-US" sz="2025"/>
          </a:p>
        </p:txBody>
      </p:sp>
      <p:sp>
        <p:nvSpPr>
          <p:cNvPr id="8" name="Text 8"/>
          <p:cNvSpPr txBox="1"/>
          <p:nvPr/>
        </p:nvSpPr>
        <p:spPr>
          <a:xfrm>
            <a:off x="723900" y="4933950"/>
            <a:ext cx="10668000" cy="428625"/>
          </a:xfrm>
          <a:prstGeom prst="rect">
            <a:avLst/>
          </a:prstGeom>
          <a:noFill/>
          <a:ln>
            <a:noFill/>
          </a:ln>
        </p:spPr>
        <p:txBody>
          <a:bodyPr wrap="square" lIns="0" tIns="0" rIns="0" bIns="0" anchor="t">
            <a:noAutofit/>
          </a:bodyPr>
          <a:lstStyle/>
          <a:p>
            <a:pPr algn="l">
              <a:lnSpc>
                <a:spcPct val="115000"/>
              </a:lnSpc>
              <a:spcAft>
                <a:spcPts val="0"/>
              </a:spcAft>
              <a:buNone/>
            </a:pPr>
            <a:r>
              <a:rPr lang="en-US" sz="2325" b="1">
                <a:solidFill>
                  <a:srgbClr val="18334A"/>
                </a:solidFill>
                <a:latin typeface="Arial"/>
                <a:ea typeface="Arial"/>
                <a:cs typeface="Arial"/>
              </a:rPr>
              <a:t>AI background</a:t>
            </a:r>
            <a:endParaRPr lang="en-US" sz="2325"/>
          </a:p>
        </p:txBody>
      </p:sp>
      <p:sp>
        <p:nvSpPr>
          <p:cNvPr id="9" name="Text 9"/>
          <p:cNvSpPr txBox="1"/>
          <p:nvPr/>
        </p:nvSpPr>
        <p:spPr>
          <a:xfrm>
            <a:off x="723900" y="5476875"/>
            <a:ext cx="10668000" cy="762000"/>
          </a:xfrm>
          <a:prstGeom prst="rect">
            <a:avLst/>
          </a:prstGeom>
          <a:noFill/>
          <a:ln>
            <a:noFill/>
          </a:ln>
        </p:spPr>
        <p:txBody>
          <a:bodyPr wrap="square" lIns="0" tIns="0" rIns="0" bIns="0" anchor="t">
            <a:noAutofit/>
          </a:bodyPr>
          <a:lstStyle/>
          <a:p>
            <a:pPr algn="l">
              <a:lnSpc>
                <a:spcPct val="115000"/>
              </a:lnSpc>
              <a:spcAft>
                <a:spcPts val="0"/>
              </a:spcAft>
              <a:buNone/>
            </a:pPr>
            <a:r>
              <a:rPr lang="en-US" sz="1950" b="0">
                <a:solidFill>
                  <a:srgbClr val="18334A"/>
                </a:solidFill>
                <a:latin typeface="Arial"/>
                <a:ea typeface="Arial"/>
                <a:cs typeface="Arial"/>
              </a:rPr>
              <a:t>Vaswani et al. Attention Is All You Need. 2017.</a:t>
            </a:r>
            <a:endParaRPr lang="en-US" sz="1950"/>
          </a:p>
          <a:p>
            <a:pPr algn="l">
              <a:lnSpc>
                <a:spcPct val="115000"/>
              </a:lnSpc>
              <a:spcAft>
                <a:spcPts val="0"/>
              </a:spcAft>
              <a:buNone/>
            </a:pPr>
            <a:r>
              <a:rPr lang="en-US" sz="1950" b="0">
                <a:solidFill>
                  <a:srgbClr val="18334A"/>
                </a:solidFill>
                <a:latin typeface="Arial"/>
                <a:ea typeface="Arial"/>
                <a:cs typeface="Arial"/>
              </a:rPr>
              <a:t>Dosovitskiy et al. An Image is Worth 16x16 Words. 2021.</a:t>
            </a:r>
            <a:endParaRPr lang="en-US" sz="1950"/>
          </a:p>
        </p:txBody>
      </p:sp>
    </p:spTree>
  </p:cSld>
  <p:clrMapOvr>
    <a:masterClrMapping/>
  </p:clrMapOvr>
</p:sld>
</file>

<file path=ppt/theme/theme1.xml><?xml version="1.0" encoding="utf-8"?>
<a:theme xmlns:a="http://schemas.openxmlformats.org/drawingml/2006/main" name="MTR KV">
  <a:themeElements>
    <a:clrScheme name="Academic">
      <a:dk1>
        <a:srgbClr val="18334A"/>
      </a:dk1>
      <a:lt1>
        <a:srgbClr val="FFFFFF"/>
      </a:lt1>
      <a:dk2>
        <a:srgbClr val="52606D"/>
      </a:dk2>
      <a:lt2>
        <a:srgbClr val="EDF2F5"/>
      </a:lt2>
      <a:accent1>
        <a:srgbClr val="206A87"/>
      </a:accent1>
      <a:accent2>
        <a:srgbClr val="7795A8"/>
      </a:accent2>
      <a:accent3>
        <a:srgbClr val="698465"/>
      </a:accent3>
      <a:accent4>
        <a:srgbClr val="A37A3F"/>
      </a:accent4>
      <a:accent5>
        <a:srgbClr val="7D6A92"/>
      </a:accent5>
      <a:accent6>
        <a:srgbClr val="4E7C79"/>
      </a:accent6>
      <a:hlink>
        <a:srgbClr val="206A87"/>
      </a:hlink>
      <a:folHlink>
        <a:srgbClr val="73518C"/>
      </a:folHlink>
    </a:clrScheme>
    <a:fontScheme name="Arial">
      <a:majorFont>
        <a:latin typeface="Arial"/>
        <a:ea typeface=""/>
        <a:cs typeface=""/>
      </a:majorFont>
      <a:minorFont>
        <a:latin typeface="Arial"/>
        <a:ea typeface=""/>
        <a:cs typeface=""/>
      </a:minorFont>
    </a:fontScheme>
    <a:fmtScheme name="Simple">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PowerPoint</Application>
  <PresentationFormat>Widescreen</PresentationFormat>
  <Slides>18</Slides>
  <Notes>18</Notes>
</Properties>
</file>

<file path=docProps/core.xml><?xml version="1.0" encoding="utf-8"?>
<cp:coreProperties xmlns:cp="http://schemas.openxmlformats.org/package/2006/metadata/core-properties" xmlns:dc="http://purl.org/dc/elements/1.1/">
  <dc:title>MTR-KV Project Explanation</dc:title>
  <dc:creator>Suhani Gupta, Kunwar Shaurya Pratap Singh, Kanan Tayal</dc:creator>
  <dc:subject>BCSE306L Artificial Intelligence</dc:subject>
</cp:coreProperties>
</file>